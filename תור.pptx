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7"/>
  </p:notesMasterIdLst>
  <p:sldIdLst>
    <p:sldId id="272" r:id="rId2"/>
    <p:sldId id="260" r:id="rId3"/>
    <p:sldId id="297" r:id="rId4"/>
    <p:sldId id="315" r:id="rId5"/>
    <p:sldId id="295" r:id="rId6"/>
    <p:sldId id="299" r:id="rId7"/>
    <p:sldId id="322" r:id="rId8"/>
    <p:sldId id="298" r:id="rId9"/>
    <p:sldId id="320" r:id="rId10"/>
    <p:sldId id="316" r:id="rId11"/>
    <p:sldId id="321" r:id="rId12"/>
    <p:sldId id="300" r:id="rId13"/>
    <p:sldId id="313" r:id="rId14"/>
    <p:sldId id="302" r:id="rId15"/>
    <p:sldId id="317" r:id="rId16"/>
    <p:sldId id="318" r:id="rId17"/>
    <p:sldId id="319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585B88B9-3B5B-4E4F-A39E-03FA435B3207}" type="datetimeFigureOut">
              <a:rPr lang="en-IL" smtClean="0"/>
              <a:t>08/04/2024</a:t>
            </a:fld>
            <a:endParaRPr lang="en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76848236-751A-4278-A371-19F4C0663D5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08457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82B354-6DB9-F0C1-73E8-5ABCB7CAD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1CECA99-4F80-822E-E4AE-0D1DF0912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F3F8A03-64B0-E0EE-A74D-A168342E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1E63786-E1BD-72B7-4D20-13F28948D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ABBE675-9FA7-79E6-0F32-72405B5A4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94292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549FFA-606D-B62D-6CD8-6239DC7AD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8258D50-C0D1-05E5-767D-4806F669C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C1074D-F52D-DBF0-9C84-12E74DCC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CACBDFD-ADD1-5216-8624-F93D52B38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7726BE5-D46F-88CC-6912-68F3C1D1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40082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73FD95-3DFD-BCB6-CC56-9EBD62CA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BF66CFF-0DCE-88BF-8DEB-887F772EA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01753CD-B73A-2F77-3EFE-8F5A97B1B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1D4F8B7-A628-9238-3C88-3069AD8C4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E88BB84-01FA-1FB6-D6E8-163C131D9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2085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34A1673-9CEA-2973-DBB4-F472F4320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AA5D471-2B0C-9AE4-8847-964A5CB79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5AB27C3-0228-62CD-A06C-FE93FD876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6D3260-F219-ABA6-98AB-FC44159F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3516599-268B-3020-4147-EC906447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09B0E99-0ADE-6FB6-2CB2-5D40485C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3837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401F048-BB55-216F-9EED-4C48DB512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325DE09-FF16-ED49-8093-25CA5C99D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59E3C77-A67C-E928-795B-5E00C961C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70A4599C-E7BE-F5F6-8303-8FE1E4DC77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6FF04422-0FD4-3EEA-D284-6517B9B46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124822EC-9362-0FB5-DB78-5CACF48EA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937D9B3-A232-0C4A-0147-FAB11A7E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0068338B-3746-AF06-CAC6-B31ECA9D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5492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64FAEA-31F9-6F43-F763-36E1978DB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17699043-B3D7-E587-E613-4173241A7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4A134A9-F080-28AB-7A58-32A3AB40A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9492B08-A7FD-ADF0-350E-19EFC290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9930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23858BD-B7EF-E2EC-AA4C-7360AC02E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DA742C4-C703-569F-3AB7-964326C2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0FC5C37-A208-5FCB-B0B2-6E9AD10D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343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FDFB054-18E9-226A-3D03-E2E0CD805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B8549C3-5482-8085-1214-7588E5883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8CBB675-0E11-A475-56EF-1430720ED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0199772-18FE-234A-DB92-E236FC61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A11E407-0687-97D4-3D5A-0A4D9F487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447CABE-2A7B-0D13-922B-6C2B5D9B1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2993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03AD58-7A39-FF15-5F97-A91FC2BF1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91E9A19-E917-20FD-D6BF-D270B631C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41E3A4D-D484-354E-DF6C-BE83ABFD4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92B80A3-EA8D-D5C3-7E63-09B157901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0807A1C-DE2D-E031-77EE-8C9183694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B38454C-7366-FB69-5E4B-7D6F6FAD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8779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F2A194-DF9F-143A-0B43-AB5185991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87DEE19-84CE-A744-ED90-574445F33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EE23267-41A5-62FE-F668-928B7E5A2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C0B007E-BF02-5B67-2E13-E647E3AB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8640995-9771-5C85-F27B-4E4AEB1F5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8844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9F5AE561-CE46-8D9E-07A7-5A96A984E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8877455-C94E-BFBE-3890-D0A87E71C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84CCB16-AE46-B90B-2F5C-42D35B6B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DE1B-2C1D-6541-A8F1-AC9B50E37A71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583D899-ACA6-31F1-298E-9420E684C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A5EBC10-446A-F9C7-36D4-CADB3D525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3733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C97DC5F-BF04-3ECE-0E78-FD9E75D49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113F6C9-1194-21E3-88B0-49AA2E079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A3B5826-B396-C69C-AC3B-7558DEC164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5DE1B-2C1D-6541-A8F1-AC9B50E37A71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3594BFD-9A93-B073-289D-0E153BB95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9CE73F4-194C-B7DB-1504-17A4E5182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7E164-CF38-3D41-AFE4-327D5FC5A91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74664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F3D8CB6-4C3E-D732-923E-5B9B1AA17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38138"/>
            <a:ext cx="9144000" cy="1711272"/>
          </a:xfrm>
        </p:spPr>
        <p:txBody>
          <a:bodyPr>
            <a:normAutofit/>
          </a:bodyPr>
          <a:lstStyle/>
          <a:p>
            <a:r>
              <a:rPr lang="he-IL" dirty="0"/>
              <a:t>תור </a:t>
            </a:r>
            <a:r>
              <a:rPr lang="en-US" dirty="0"/>
              <a:t>Queue</a:t>
            </a: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51231B8-4ADE-F740-FAB4-EB98B19CA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46982"/>
            <a:ext cx="9144000" cy="1144606"/>
          </a:xfrm>
        </p:spPr>
        <p:txBody>
          <a:bodyPr>
            <a:normAutofit/>
          </a:bodyPr>
          <a:lstStyle/>
          <a:p>
            <a:r>
              <a:rPr lang="he-IL" sz="3200" dirty="0"/>
              <a:t>כיתה יא</a:t>
            </a:r>
          </a:p>
          <a:p>
            <a:r>
              <a:rPr lang="he-IL" sz="3200" dirty="0"/>
              <a:t>גלעד מרקמן</a:t>
            </a:r>
          </a:p>
        </p:txBody>
      </p:sp>
      <p:grpSp>
        <p:nvGrpSpPr>
          <p:cNvPr id="9" name="קבוצה 1">
            <a:extLst>
              <a:ext uri="{FF2B5EF4-FFF2-40B4-BE49-F238E27FC236}">
                <a16:creationId xmlns:a16="http://schemas.microsoft.com/office/drawing/2014/main" id="{5210A4A2-41E7-43DB-CD6B-3A1A7DE1C20E}"/>
              </a:ext>
            </a:extLst>
          </p:cNvPr>
          <p:cNvGrpSpPr/>
          <p:nvPr/>
        </p:nvGrpSpPr>
        <p:grpSpPr>
          <a:xfrm>
            <a:off x="110837" y="59992"/>
            <a:ext cx="2488167" cy="1918007"/>
            <a:chOff x="41279" y="0"/>
            <a:chExt cx="2178047" cy="1443577"/>
          </a:xfrm>
        </p:grpSpPr>
        <p:grpSp>
          <p:nvGrpSpPr>
            <p:cNvPr id="10" name="קבוצה 35">
              <a:extLst>
                <a:ext uri="{FF2B5EF4-FFF2-40B4-BE49-F238E27FC236}">
                  <a16:creationId xmlns:a16="http://schemas.microsoft.com/office/drawing/2014/main" id="{925A1CEE-8C18-38BE-57DD-CE2A8E6B6DF5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12" name="pasted-image.png">
                <a:extLst>
                  <a:ext uri="{FF2B5EF4-FFF2-40B4-BE49-F238E27FC236}">
                    <a16:creationId xmlns:a16="http://schemas.microsoft.com/office/drawing/2014/main" id="{789F0071-C486-6FD1-E2F7-770EC468C8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13" name="תיבת טקסט 2">
                <a:extLst>
                  <a:ext uri="{FF2B5EF4-FFF2-40B4-BE49-F238E27FC236}">
                    <a16:creationId xmlns:a16="http://schemas.microsoft.com/office/drawing/2014/main" id="{D99BB41B-5AAB-B51A-A843-2B010F1389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b="1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b="1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" name="תיבת טקסט 2">
              <a:extLst>
                <a:ext uri="{FF2B5EF4-FFF2-40B4-BE49-F238E27FC236}">
                  <a16:creationId xmlns:a16="http://schemas.microsoft.com/office/drawing/2014/main" id="{F1D1A91C-A27F-A32A-7E42-06189DDB18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pic>
        <p:nvPicPr>
          <p:cNvPr id="1026" name="Picture 2" descr="Java Queue">
            <a:extLst>
              <a:ext uri="{FF2B5EF4-FFF2-40B4-BE49-F238E27FC236}">
                <a16:creationId xmlns:a16="http://schemas.microsoft.com/office/drawing/2014/main" id="{DFDCF7AE-2794-70F9-3D3A-FCD5C703A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447800"/>
            <a:ext cx="57150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592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84A0BEA-5EB1-15A8-4D8E-0A8A6C704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1402"/>
          </a:xfrm>
        </p:spPr>
        <p:txBody>
          <a:bodyPr/>
          <a:lstStyle/>
          <a:p>
            <a:pPr algn="ctr"/>
            <a:r>
              <a:rPr lang="he-IL" dirty="0"/>
              <a:t>תור </a:t>
            </a:r>
            <a:r>
              <a:rPr lang="en-US" dirty="0"/>
              <a:t>QUEUE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A4FFC02-E6C2-EE71-412D-DF11D720C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תור – מבנה נתונים המקיים </a:t>
            </a:r>
            <a:r>
              <a:rPr lang="en-US" dirty="0"/>
              <a:t>FIFO – First In First Out</a:t>
            </a:r>
            <a:endParaRPr lang="he-IL" dirty="0"/>
          </a:p>
          <a:p>
            <a:pPr lvl="1"/>
            <a:r>
              <a:rPr lang="he-IL" dirty="0"/>
              <a:t>איבר הנכנס למחסנית ישמר בסוף התור. </a:t>
            </a:r>
          </a:p>
          <a:p>
            <a:pPr lvl="1"/>
            <a:r>
              <a:rPr lang="he-IL" dirty="0"/>
              <a:t>איבר הנכנס מעליו יהיה לאחריו בתור. </a:t>
            </a:r>
          </a:p>
          <a:p>
            <a:pPr lvl="1"/>
            <a:r>
              <a:rPr lang="he-IL" dirty="0"/>
              <a:t>הוצאת איבר תעשה תמיד מראש התור. </a:t>
            </a:r>
            <a:endParaRPr lang="en-US" dirty="0"/>
          </a:p>
          <a:p>
            <a:pPr lvl="1"/>
            <a:endParaRPr lang="en-US" dirty="0"/>
          </a:p>
          <a:p>
            <a:endParaRPr lang="he-IL" dirty="0"/>
          </a:p>
        </p:txBody>
      </p:sp>
      <p:pic>
        <p:nvPicPr>
          <p:cNvPr id="4" name="תמונה 4">
            <a:extLst>
              <a:ext uri="{FF2B5EF4-FFF2-40B4-BE49-F238E27FC236}">
                <a16:creationId xmlns:a16="http://schemas.microsoft.com/office/drawing/2014/main" id="{D05C50CC-0DEE-5B1D-C0F7-BDED0AC45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14" y="3933193"/>
            <a:ext cx="3810000" cy="1892300"/>
          </a:xfrm>
          <a:prstGeom prst="rect">
            <a:avLst/>
          </a:prstGeom>
        </p:spPr>
      </p:pic>
      <p:pic>
        <p:nvPicPr>
          <p:cNvPr id="7" name="תמונה 7">
            <a:extLst>
              <a:ext uri="{FF2B5EF4-FFF2-40B4-BE49-F238E27FC236}">
                <a16:creationId xmlns:a16="http://schemas.microsoft.com/office/drawing/2014/main" id="{DB718722-5022-9A1A-1CCE-CFACB33E5C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133" y="3770957"/>
            <a:ext cx="2758478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8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מימוש תור גנרי על ידי חוליות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CF581AA-961C-AE47-C140-95CC0E391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422"/>
            <a:ext cx="10515600" cy="4626541"/>
          </a:xfrm>
        </p:spPr>
        <p:txBody>
          <a:bodyPr>
            <a:normAutofit/>
          </a:bodyPr>
          <a:lstStyle/>
          <a:p>
            <a:r>
              <a:rPr lang="he-IL" dirty="0"/>
              <a:t>מימוש תור על ידי שרשרת חוליות מחייב אותנו להחזיק שני מצביעים:</a:t>
            </a:r>
          </a:p>
          <a:p>
            <a:pPr lvl="1"/>
            <a:r>
              <a:rPr lang="en-US" dirty="0"/>
              <a:t>Head</a:t>
            </a:r>
            <a:r>
              <a:rPr lang="he-IL" dirty="0"/>
              <a:t> - מצביע לראש השרשרת – לצורך הוצאת ערכים.</a:t>
            </a:r>
          </a:p>
          <a:p>
            <a:pPr lvl="1"/>
            <a:r>
              <a:rPr lang="en-US" dirty="0"/>
              <a:t>Tail</a:t>
            </a:r>
            <a:r>
              <a:rPr lang="he-IL" dirty="0"/>
              <a:t> – מצביע לסוף השרשרת – לצורך הכנסת הערכים.</a:t>
            </a:r>
          </a:p>
          <a:p>
            <a:r>
              <a:rPr lang="he-IL" dirty="0"/>
              <a:t>שימוש בשני מצביעים מאפשר לנו לבצע הוספה והסרה של חוליה ב </a:t>
            </a:r>
            <a:r>
              <a:rPr lang="en-US" dirty="0"/>
              <a:t>O(1)</a:t>
            </a:r>
            <a:r>
              <a:rPr lang="he-IL" dirty="0"/>
              <a:t>.</a:t>
            </a:r>
          </a:p>
          <a:p>
            <a:r>
              <a:rPr lang="he-IL" dirty="0"/>
              <a:t>שימוש בחוליות גנריות מאפשר לבנות תור גנרי.</a:t>
            </a:r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1"/>
            <a:ext cx="2154725" cy="1550422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pic>
        <p:nvPicPr>
          <p:cNvPr id="10" name="Picture 2" descr="Java Queue">
            <a:extLst>
              <a:ext uri="{FF2B5EF4-FFF2-40B4-BE49-F238E27FC236}">
                <a16:creationId xmlns:a16="http://schemas.microsoft.com/office/drawing/2014/main" id="{32AEDAAB-3249-F61A-ED73-362A1B96C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4398964"/>
            <a:ext cx="57150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19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המחלקה </a:t>
            </a:r>
            <a:r>
              <a:rPr lang="en-US" dirty="0"/>
              <a:t>Queue&lt;T&gt;</a:t>
            </a:r>
            <a:endParaRPr lang="he-IL" dirty="0"/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1"/>
            <a:ext cx="2154725" cy="1550422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pic>
        <p:nvPicPr>
          <p:cNvPr id="12" name="מציין מיקום תוכן 11">
            <a:extLst>
              <a:ext uri="{FF2B5EF4-FFF2-40B4-BE49-F238E27FC236}">
                <a16:creationId xmlns:a16="http://schemas.microsoft.com/office/drawing/2014/main" id="{6EC0186A-1A42-7898-7F92-4B0043A835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3936" y="1728318"/>
            <a:ext cx="8604127" cy="468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918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המחלקה </a:t>
            </a:r>
            <a:r>
              <a:rPr lang="en-US" dirty="0"/>
              <a:t>Queue&lt;T&gt;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CF581AA-961C-AE47-C140-95CC0E391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3304" y="1550422"/>
            <a:ext cx="6510495" cy="4626541"/>
          </a:xfrm>
        </p:spPr>
        <p:txBody>
          <a:bodyPr>
            <a:normAutofit/>
          </a:bodyPr>
          <a:lstStyle/>
          <a:p>
            <a:r>
              <a:rPr lang="he-IL" dirty="0"/>
              <a:t>המחלקה </a:t>
            </a:r>
            <a:r>
              <a:rPr lang="he-IL" dirty="0" err="1"/>
              <a:t>הגנרתית</a:t>
            </a:r>
            <a:r>
              <a:rPr lang="he-IL" dirty="0"/>
              <a:t> תור </a:t>
            </a:r>
            <a:r>
              <a:rPr lang="en-US" dirty="0"/>
              <a:t>Q</a:t>
            </a:r>
            <a:r>
              <a:rPr lang="en-IL" dirty="0" err="1"/>
              <a:t>ueue</a:t>
            </a:r>
            <a:r>
              <a:rPr lang="en-US" dirty="0"/>
              <a:t>&lt;T&gt;</a:t>
            </a:r>
            <a:r>
              <a:rPr lang="he-IL" dirty="0"/>
              <a:t> כוללת :</a:t>
            </a:r>
          </a:p>
          <a:p>
            <a:pPr lvl="1"/>
            <a:r>
              <a:rPr lang="he-IL" dirty="0"/>
              <a:t>מאפיין </a:t>
            </a:r>
            <a:r>
              <a:rPr lang="en-US" dirty="0"/>
              <a:t>Head</a:t>
            </a:r>
            <a:r>
              <a:rPr lang="he-IL" dirty="0"/>
              <a:t> המצביע לראש המחסנית.</a:t>
            </a:r>
          </a:p>
          <a:p>
            <a:pPr lvl="1"/>
            <a:r>
              <a:rPr lang="he-IL" dirty="0"/>
              <a:t>בנאי ריק – הבונה מחסנית ריקה.</a:t>
            </a:r>
          </a:p>
          <a:p>
            <a:pPr lvl="1"/>
            <a:r>
              <a:rPr lang="en-US" dirty="0"/>
              <a:t>Push</a:t>
            </a:r>
            <a:r>
              <a:rPr lang="he-IL" dirty="0"/>
              <a:t> – מוסיף איבר לראש המחסנית.</a:t>
            </a:r>
          </a:p>
          <a:p>
            <a:pPr lvl="1"/>
            <a:r>
              <a:rPr lang="en-US" dirty="0"/>
              <a:t>Pop</a:t>
            </a:r>
            <a:r>
              <a:rPr lang="he-IL" dirty="0"/>
              <a:t> – מוציא איבר מראש המחסנית ומחזיר את ערכו.</a:t>
            </a:r>
          </a:p>
          <a:p>
            <a:pPr lvl="1"/>
            <a:r>
              <a:rPr lang="en-US" dirty="0"/>
              <a:t>Top</a:t>
            </a:r>
            <a:r>
              <a:rPr lang="he-IL" dirty="0"/>
              <a:t> – מחזיר את ערך האיבר בראש המחסנית (לא משנה את המחסנית). </a:t>
            </a:r>
          </a:p>
          <a:p>
            <a:pPr lvl="1"/>
            <a:r>
              <a:rPr lang="en-US" dirty="0" err="1"/>
              <a:t>isEmpty</a:t>
            </a:r>
            <a:r>
              <a:rPr lang="he-IL" dirty="0"/>
              <a:t> – מחזיר אמת אם המחסנית ריקה, אחרת שקר.</a:t>
            </a:r>
          </a:p>
          <a:p>
            <a:pPr lvl="1"/>
            <a:r>
              <a:rPr lang="en-US" dirty="0" err="1"/>
              <a:t>ToString</a:t>
            </a:r>
            <a:r>
              <a:rPr lang="he-IL" dirty="0"/>
              <a:t> – מחזיר מחרוזת עם ערכי המחסנית. </a:t>
            </a:r>
            <a:r>
              <a:rPr lang="he-IL" dirty="0" err="1"/>
              <a:t>בפרומט</a:t>
            </a:r>
            <a:r>
              <a:rPr lang="he-IL" dirty="0"/>
              <a:t>:</a:t>
            </a:r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1"/>
            <a:ext cx="2154725" cy="1550422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E05D3E05-3D4F-F15A-A5AD-94C4F0471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318" y="5543801"/>
            <a:ext cx="2240053" cy="334554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293484D7-3B5A-5655-E989-B03835E6E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43" y="1937306"/>
            <a:ext cx="4483929" cy="244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34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תרגיל – יצירת תור ממערך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CF581AA-961C-AE47-C140-95CC0E391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422"/>
            <a:ext cx="10515600" cy="4626541"/>
          </a:xfrm>
        </p:spPr>
        <p:txBody>
          <a:bodyPr>
            <a:normAutofit/>
          </a:bodyPr>
          <a:lstStyle/>
          <a:p>
            <a:r>
              <a:rPr lang="he-IL" dirty="0"/>
              <a:t>כתוב פעולה חיצונית גנרית המקבלת מערך מסוג </a:t>
            </a:r>
            <a:r>
              <a:rPr lang="en-US" dirty="0"/>
              <a:t>&lt;T&gt;</a:t>
            </a:r>
            <a:r>
              <a:rPr lang="he-IL" dirty="0"/>
              <a:t> ומחזירה תור עם ערכי המערך.</a:t>
            </a:r>
          </a:p>
          <a:p>
            <a:r>
              <a:rPr lang="he-IL" dirty="0"/>
              <a:t>צור והדפס בפעולה הראשית מחסנית של </a:t>
            </a:r>
            <a:r>
              <a:rPr lang="en-US" dirty="0"/>
              <a:t>int</a:t>
            </a:r>
            <a:r>
              <a:rPr lang="he-IL" dirty="0"/>
              <a:t> שבנויה ממערך.</a:t>
            </a:r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1"/>
            <a:ext cx="2154725" cy="1550422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pic>
        <p:nvPicPr>
          <p:cNvPr id="10" name="תמונה 9">
            <a:extLst>
              <a:ext uri="{FF2B5EF4-FFF2-40B4-BE49-F238E27FC236}">
                <a16:creationId xmlns:a16="http://schemas.microsoft.com/office/drawing/2014/main" id="{DFE0FDBA-EE74-BE11-3B61-A7FF98298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87" y="3076952"/>
            <a:ext cx="5296359" cy="23509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B090ACED-BC6E-19CB-7A3F-090BEE266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586" y="4621718"/>
            <a:ext cx="7087214" cy="13717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1838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תרגיל – </a:t>
            </a:r>
            <a:r>
              <a:rPr lang="he-IL" dirty="0" err="1"/>
              <a:t>שירשור</a:t>
            </a:r>
            <a:r>
              <a:rPr lang="he-IL" dirty="0"/>
              <a:t> רשימות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CF581AA-961C-AE47-C140-95CC0E391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422"/>
            <a:ext cx="10515600" cy="4626541"/>
          </a:xfrm>
        </p:spPr>
        <p:txBody>
          <a:bodyPr>
            <a:normAutofit/>
          </a:bodyPr>
          <a:lstStyle/>
          <a:p>
            <a:r>
              <a:rPr lang="he-IL" dirty="0"/>
              <a:t>כתוב פעולה חיצונית גנרית </a:t>
            </a:r>
            <a:r>
              <a:rPr lang="he-IL" sz="2800" dirty="0"/>
              <a:t>המקבלת שני תורים </a:t>
            </a:r>
            <a:r>
              <a:rPr lang="en-US" sz="2800" dirty="0"/>
              <a:t>q1, q2</a:t>
            </a:r>
            <a:r>
              <a:rPr lang="he-IL" sz="2800" dirty="0"/>
              <a:t> ומשרשרת אותם לתור אחד </a:t>
            </a:r>
            <a:r>
              <a:rPr lang="en-US" sz="2800" dirty="0"/>
              <a:t>q1</a:t>
            </a:r>
            <a:r>
              <a:rPr lang="he-IL" sz="2800" dirty="0"/>
              <a:t> (מחברת את </a:t>
            </a:r>
            <a:r>
              <a:rPr lang="en-US" sz="2800" dirty="0"/>
              <a:t>q1</a:t>
            </a:r>
            <a:r>
              <a:rPr lang="he-IL" sz="2800" dirty="0"/>
              <a:t> עם </a:t>
            </a:r>
            <a:r>
              <a:rPr lang="en-US" sz="2800" dirty="0"/>
              <a:t>q2</a:t>
            </a:r>
            <a:r>
              <a:rPr lang="he-IL" sz="2800" dirty="0"/>
              <a:t>).</a:t>
            </a:r>
            <a:endParaRPr lang="he-IL" dirty="0"/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1"/>
            <a:ext cx="2154725" cy="1550422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72A417BF-CA83-0E52-36D5-E81D57270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932" y="2880832"/>
            <a:ext cx="8716136" cy="227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86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סריקת תור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CF581AA-961C-AE47-C140-95CC0E391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422"/>
            <a:ext cx="10515600" cy="5149142"/>
          </a:xfrm>
        </p:spPr>
        <p:txBody>
          <a:bodyPr>
            <a:normAutofit/>
          </a:bodyPr>
          <a:lstStyle/>
          <a:p>
            <a:r>
              <a:rPr lang="he-IL" dirty="0"/>
              <a:t>כתוב פעולה חיצונית גנרית המקבלת תור וערך, ומחזירה אמת אם הערך קיים בתור ושקר אחרת. התור המקורי לא ישתנה.</a:t>
            </a:r>
          </a:p>
          <a:p>
            <a:r>
              <a:rPr lang="he-IL" dirty="0"/>
              <a:t>נציג שלוש אפשרויות לסריקה של תור ללא שינוי התור המקורי:</a:t>
            </a:r>
          </a:p>
          <a:p>
            <a:pPr lvl="1"/>
            <a:r>
              <a:rPr lang="he-IL" dirty="0"/>
              <a:t>שימוש בתור נוסף (העתקת התור בהתחלה או במהלך </a:t>
            </a:r>
            <a:r>
              <a:rPr lang="he-IL"/>
              <a:t>ביצוע הפעולה).</a:t>
            </a:r>
            <a:endParaRPr lang="he-IL" dirty="0"/>
          </a:p>
          <a:p>
            <a:pPr lvl="1"/>
            <a:r>
              <a:rPr lang="he-IL" dirty="0"/>
              <a:t>במקרה של ערכים ייחודיים – שמירת הערך ההתחלתי.</a:t>
            </a:r>
          </a:p>
          <a:p>
            <a:pPr lvl="1"/>
            <a:r>
              <a:rPr lang="he-IL" dirty="0"/>
              <a:t>הוספת דגל – כשידוע שערך לא קיים בתור.</a:t>
            </a:r>
          </a:p>
          <a:p>
            <a:pPr lvl="1"/>
            <a:r>
              <a:rPr lang="he-IL" dirty="0"/>
              <a:t>כשידוע מספר הערכים – שימוש בלולאת </a:t>
            </a:r>
            <a:r>
              <a:rPr lang="en-US" dirty="0"/>
              <a:t>for</a:t>
            </a:r>
            <a:r>
              <a:rPr lang="he-IL" dirty="0"/>
              <a:t>.</a:t>
            </a:r>
          </a:p>
          <a:p>
            <a:pPr lvl="1"/>
            <a:endParaRPr lang="he-IL" dirty="0"/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1"/>
            <a:ext cx="2154725" cy="1550422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pic>
        <p:nvPicPr>
          <p:cNvPr id="1026" name="Picture 2" descr="Types of Queues">
            <a:extLst>
              <a:ext uri="{FF2B5EF4-FFF2-40B4-BE49-F238E27FC236}">
                <a16:creationId xmlns:a16="http://schemas.microsoft.com/office/drawing/2014/main" id="{8EDD4937-C4F8-4DC2-E35E-E7552C7FA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831" y="4511674"/>
            <a:ext cx="855345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581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סריקה באמצעות תור עזר</a:t>
            </a:r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1"/>
            <a:ext cx="2154725" cy="1550422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pic>
        <p:nvPicPr>
          <p:cNvPr id="10" name="מציין מיקום תוכן 9">
            <a:extLst>
              <a:ext uri="{FF2B5EF4-FFF2-40B4-BE49-F238E27FC236}">
                <a16:creationId xmlns:a16="http://schemas.microsoft.com/office/drawing/2014/main" id="{5FCA9493-8E16-9D4B-F0D0-9361615DD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51430" y="1846907"/>
            <a:ext cx="6021504" cy="4509191"/>
          </a:xfrm>
        </p:spPr>
      </p:pic>
    </p:spTree>
    <p:extLst>
      <p:ext uri="{BB962C8B-B14F-4D97-AF65-F5344CB8AC3E}">
        <p14:creationId xmlns:p14="http://schemas.microsoft.com/office/powerpoint/2010/main" val="3908698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סריקה בתור עם ערכים ייחודיים</a:t>
            </a:r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1"/>
            <a:ext cx="2154725" cy="1550422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pic>
        <p:nvPicPr>
          <p:cNvPr id="10" name="מציין מיקום תוכן 9">
            <a:extLst>
              <a:ext uri="{FF2B5EF4-FFF2-40B4-BE49-F238E27FC236}">
                <a16:creationId xmlns:a16="http://schemas.microsoft.com/office/drawing/2014/main" id="{22DA18EB-1FD3-D574-F964-D335D65CB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51430" y="1577029"/>
            <a:ext cx="6765719" cy="4529472"/>
          </a:xfrm>
        </p:spPr>
      </p:pic>
    </p:spTree>
    <p:extLst>
      <p:ext uri="{BB962C8B-B14F-4D97-AF65-F5344CB8AC3E}">
        <p14:creationId xmlns:p14="http://schemas.microsoft.com/office/powerpoint/2010/main" val="201914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סריקה באמצעות דגל</a:t>
            </a:r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1"/>
            <a:ext cx="2154725" cy="1550422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pic>
        <p:nvPicPr>
          <p:cNvPr id="10" name="מציין מיקום תוכן 9">
            <a:extLst>
              <a:ext uri="{FF2B5EF4-FFF2-40B4-BE49-F238E27FC236}">
                <a16:creationId xmlns:a16="http://schemas.microsoft.com/office/drawing/2014/main" id="{BA0A35FC-1A6D-7BE1-F930-DD9B41375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73802" y="1738266"/>
            <a:ext cx="7644395" cy="4490519"/>
          </a:xfrm>
        </p:spPr>
      </p:pic>
    </p:spTree>
    <p:extLst>
      <p:ext uri="{BB962C8B-B14F-4D97-AF65-F5344CB8AC3E}">
        <p14:creationId xmlns:p14="http://schemas.microsoft.com/office/powerpoint/2010/main" val="2837931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תרגילים – פעולות חיצוניות</a:t>
            </a:r>
          </a:p>
        </p:txBody>
      </p:sp>
      <p:graphicFrame>
        <p:nvGraphicFramePr>
          <p:cNvPr id="9" name="טבלה 9">
            <a:extLst>
              <a:ext uri="{FF2B5EF4-FFF2-40B4-BE49-F238E27FC236}">
                <a16:creationId xmlns:a16="http://schemas.microsoft.com/office/drawing/2014/main" id="{AD54A06C-298C-A149-E4F1-98D540240E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069721"/>
              </p:ext>
            </p:extLst>
          </p:nvPr>
        </p:nvGraphicFramePr>
        <p:xfrm>
          <a:off x="737616" y="1101541"/>
          <a:ext cx="10515600" cy="510013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006505">
                  <a:extLst>
                    <a:ext uri="{9D8B030D-6E8A-4147-A177-3AD203B41FA5}">
                      <a16:colId xmlns:a16="http://schemas.microsoft.com/office/drawing/2014/main" val="4109195720"/>
                    </a:ext>
                  </a:extLst>
                </a:gridCol>
                <a:gridCol w="7509095">
                  <a:extLst>
                    <a:ext uri="{9D8B030D-6E8A-4147-A177-3AD203B41FA5}">
                      <a16:colId xmlns:a16="http://schemas.microsoft.com/office/drawing/2014/main" val="3147601039"/>
                    </a:ext>
                  </a:extLst>
                </a:gridCol>
              </a:tblGrid>
              <a:tr h="406354"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הפעולה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מהות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596361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 err="1"/>
                        <a:t>CreateQueue</a:t>
                      </a:r>
                      <a:r>
                        <a:rPr lang="en-US" sz="1600" dirty="0"/>
                        <a:t> &lt;T&gt;</a:t>
                      </a:r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פעולה גנרית חיצונית המקבלת מערך של </a:t>
                      </a:r>
                      <a:r>
                        <a:rPr lang="en-US" sz="1600" dirty="0"/>
                        <a:t>&lt;T&gt;</a:t>
                      </a:r>
                      <a:r>
                        <a:rPr lang="he-IL" sz="1600" dirty="0"/>
                        <a:t> ויוצרת </a:t>
                      </a:r>
                      <a:r>
                        <a:rPr lang="he-IL" sz="1600"/>
                        <a:t>ממנו תור.</a:t>
                      </a:r>
                      <a:endParaRPr lang="he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688142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/>
                        <a:t>Concatenate&lt;T&gt;</a:t>
                      </a:r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 err="1"/>
                        <a:t>שירשור</a:t>
                      </a:r>
                      <a:r>
                        <a:rPr lang="he-IL" sz="1600" dirty="0"/>
                        <a:t> – פעולה גנרית המקבלת שני תורים </a:t>
                      </a:r>
                      <a:r>
                        <a:rPr lang="en-US" sz="1600" dirty="0"/>
                        <a:t>q1, q2</a:t>
                      </a:r>
                      <a:r>
                        <a:rPr lang="he-IL" sz="1600" dirty="0"/>
                        <a:t> ומשרשרת אותם לתור אחד </a:t>
                      </a:r>
                      <a:r>
                        <a:rPr lang="en-US" sz="1600" dirty="0"/>
                        <a:t>q1</a:t>
                      </a:r>
                      <a:r>
                        <a:rPr lang="he-IL" sz="1600" dirty="0"/>
                        <a:t> (מחברת את </a:t>
                      </a:r>
                      <a:r>
                        <a:rPr lang="en-US" sz="1600" dirty="0"/>
                        <a:t>q1</a:t>
                      </a:r>
                      <a:r>
                        <a:rPr lang="he-IL" sz="1600" dirty="0"/>
                        <a:t> עם </a:t>
                      </a:r>
                      <a:r>
                        <a:rPr lang="en-US" sz="1600" dirty="0"/>
                        <a:t>q2</a:t>
                      </a:r>
                      <a:r>
                        <a:rPr lang="he-IL" sz="1600" dirty="0"/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656560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/>
                        <a:t>isExist1&lt;T&gt;</a:t>
                      </a:r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פעולה גנרית המקבלת תור וערך ובודקת אם הערך קיים בתור. התור אינו משתנה. שימוש בתור עזר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475482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/>
                        <a:t>isExists2&lt;T&gt;</a:t>
                      </a:r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פעולה גנרית המקבלת תור של איברים שונים זה מזה וערך, ובודקת אם הערך קיים בתור. התור אינו משתנה ואין להשתמש במבנה נתונים נוסף.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302227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/>
                        <a:t>isExist3</a:t>
                      </a:r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פעולה המקבלת תור של מספרים חיוביים וערך, ובודקת אם הערך קיים בתור. התור אינו משתנה ואין להשתמש במבנה נתונים נוסף.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40720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/>
                        <a:t>Copy</a:t>
                      </a:r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פעולה גנרית חיצונית המקבלת תור ומחזירה העתק של תור. המחסנית המקורית אינה משתנה.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353152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algn="l" rtl="0"/>
                      <a:r>
                        <a:rPr lang="en-US" sz="1600" dirty="0"/>
                        <a:t>Reverse&lt;T&gt;</a:t>
                      </a:r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פעולה גנרית המקבלת תור והופכת את סדר אבריו.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40990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algn="l" rtl="1"/>
                      <a:r>
                        <a:rPr lang="en-US" sz="1600" dirty="0" err="1"/>
                        <a:t>PopMin</a:t>
                      </a:r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פעולה גנרית המקבלת תור של מספרים שלמים ומוציאה ומחזירה את המספר המינימלי. התור לא ישתנה למעט הוצאת המספר המינימלי.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068367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algn="l" rtl="1"/>
                      <a:r>
                        <a:rPr lang="en-US" sz="1600" dirty="0"/>
                        <a:t>Sort</a:t>
                      </a:r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כתבו פעולה המקבלת תור </a:t>
                      </a:r>
                      <a:r>
                        <a:rPr lang="en-US" sz="1600" dirty="0"/>
                        <a:t>int</a:t>
                      </a:r>
                      <a:r>
                        <a:rPr lang="he-IL" sz="1600" dirty="0"/>
                        <a:t> ומחזירה תור חדש הממוין מהמספר הקטן לגדול</a:t>
                      </a:r>
                      <a:r>
                        <a:rPr lang="en-US" sz="1600" dirty="0"/>
                        <a:t> </a:t>
                      </a:r>
                      <a:r>
                        <a:rPr lang="he-IL" sz="1600" dirty="0"/>
                        <a:t>( המספר הקטן בראש המחסנית). בסיום הפעולה התור המקורי לא משתנה.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051561"/>
                  </a:ext>
                </a:extLst>
              </a:tr>
            </a:tbl>
          </a:graphicData>
        </a:graphic>
      </p:graphicFrame>
      <p:pic>
        <p:nvPicPr>
          <p:cNvPr id="7" name="pasted-image.png">
            <a:extLst>
              <a:ext uri="{FF2B5EF4-FFF2-40B4-BE49-F238E27FC236}">
                <a16:creationId xmlns:a16="http://schemas.microsoft.com/office/drawing/2014/main" id="{7E3B2159-2842-1536-AFFB-33EC903CF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42" r="7107" b="22716"/>
          <a:stretch/>
        </p:blipFill>
        <p:spPr bwMode="auto">
          <a:xfrm>
            <a:off x="560344" y="1"/>
            <a:ext cx="1044974" cy="979642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50879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תרגילים – פעולות חיצוניות</a:t>
            </a:r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1"/>
            <a:ext cx="2154725" cy="1550422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9" name="טבלה 9">
            <a:extLst>
              <a:ext uri="{FF2B5EF4-FFF2-40B4-BE49-F238E27FC236}">
                <a16:creationId xmlns:a16="http://schemas.microsoft.com/office/drawing/2014/main" id="{AD54A06C-298C-A149-E4F1-98D540240E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1357563"/>
              </p:ext>
            </p:extLst>
          </p:nvPr>
        </p:nvGraphicFramePr>
        <p:xfrm>
          <a:off x="838200" y="1211904"/>
          <a:ext cx="10515600" cy="540493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006505">
                  <a:extLst>
                    <a:ext uri="{9D8B030D-6E8A-4147-A177-3AD203B41FA5}">
                      <a16:colId xmlns:a16="http://schemas.microsoft.com/office/drawing/2014/main" val="4109195720"/>
                    </a:ext>
                  </a:extLst>
                </a:gridCol>
                <a:gridCol w="7509095">
                  <a:extLst>
                    <a:ext uri="{9D8B030D-6E8A-4147-A177-3AD203B41FA5}">
                      <a16:colId xmlns:a16="http://schemas.microsoft.com/office/drawing/2014/main" val="3147601039"/>
                    </a:ext>
                  </a:extLst>
                </a:gridCol>
              </a:tblGrid>
              <a:tr h="406354"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הפעולה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מהות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596361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algn="l" rtl="1"/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Sequence</a:t>
                      </a:r>
                      <a:endParaRPr lang="he-IL" sz="16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 err="1"/>
                        <a:t>כיתבו</a:t>
                      </a:r>
                      <a:r>
                        <a:rPr lang="he-IL" sz="1600" dirty="0"/>
                        <a:t> פעולה המקבלת תור של מספרים שלמים ומספר שלם </a:t>
                      </a:r>
                      <a:r>
                        <a:rPr lang="en-US" sz="1600" dirty="0"/>
                        <a:t>n</a:t>
                      </a:r>
                      <a:r>
                        <a:rPr lang="he-IL" sz="1600" dirty="0"/>
                        <a:t>. הפעולה תחזיר </a:t>
                      </a:r>
                      <a:r>
                        <a:rPr lang="en-US" sz="1600" dirty="0"/>
                        <a:t>true</a:t>
                      </a:r>
                      <a:r>
                        <a:rPr lang="he-IL" sz="1600" dirty="0"/>
                        <a:t> אם מספר החזרות של כל אחד מהמספרים בטווח </a:t>
                      </a:r>
                      <a:r>
                        <a:rPr lang="en-US" sz="1600" dirty="0"/>
                        <a:t>1-n</a:t>
                      </a:r>
                      <a:r>
                        <a:rPr lang="he-IL" sz="1600" dirty="0"/>
                        <a:t> הוא כערך המספר עצמו: המספר 1 מופיע פעם אחת, המספר 2 מופיע פעמיים וכך הלאה. אין חשיבות לסדר המספרים. אין להשתמש באלגוריתם למיון. התור לא ישתנה. (שאלה 5 בספר).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688142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lvl="1" algn="l" rtl="1"/>
                      <a:r>
                        <a:rPr lang="en-US" sz="1600" dirty="0" err="1"/>
                        <a:t>SortedStack</a:t>
                      </a:r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 err="1"/>
                        <a:t>כיתבו</a:t>
                      </a:r>
                      <a:r>
                        <a:rPr lang="he-IL" sz="1600" dirty="0"/>
                        <a:t> פעולה חיצונית המקבלת תור המכיל מספרים טבעיים שונים זה מזה. על הפעולה להחזיר מחסנית ממוינת בסדר עולה (האיבר הגדול ביותר בראש המחסנית) הבנויה מכל אברי התור, תוך התחשבות במגבלות הבאות: (1) בשום שלב אין לשלוף איברים מהמחסנית; (2) אין להשתמש במבני נתונים נוספים למעט התור שהתקבל.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353152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algn="l" rtl="1"/>
                      <a:r>
                        <a:rPr lang="en-US" sz="1600" dirty="0"/>
                        <a:t>Merge</a:t>
                      </a:r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כתבו פעולה חיצונית המקבלת שני תורים </a:t>
                      </a:r>
                      <a:r>
                        <a:rPr lang="en-US" sz="1600" dirty="0"/>
                        <a:t>q1, q2</a:t>
                      </a:r>
                      <a:r>
                        <a:rPr lang="he-IL" sz="1600" dirty="0"/>
                        <a:t> של מספרים ממשיים </a:t>
                      </a:r>
                      <a:r>
                        <a:rPr lang="en-US" sz="1600" dirty="0"/>
                        <a:t>double</a:t>
                      </a:r>
                      <a:r>
                        <a:rPr lang="he-IL" sz="1600" dirty="0"/>
                        <a:t> וממוינים מהקטן לגדול. הפעולה תמזג אותם לתוך </a:t>
                      </a:r>
                      <a:r>
                        <a:rPr lang="en-US" sz="1600" dirty="0"/>
                        <a:t>q1</a:t>
                      </a:r>
                      <a:r>
                        <a:rPr lang="he-IL" sz="1600" dirty="0"/>
                        <a:t> כתור יחיד </a:t>
                      </a:r>
                      <a:r>
                        <a:rPr lang="he-IL" sz="1600" dirty="0" err="1"/>
                        <a:t>ממויין</a:t>
                      </a:r>
                      <a:r>
                        <a:rPr lang="he-IL" sz="16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40990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algn="l" rtl="1"/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229274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algn="l" rtl="1"/>
                      <a:r>
                        <a:rPr lang="en-IL" sz="1600" dirty="0" err="1">
                          <a:highlight>
                            <a:srgbClr val="FFFF00"/>
                          </a:highlight>
                        </a:rPr>
                        <a:t>bestStudents</a:t>
                      </a:r>
                      <a:endParaRPr lang="he-IL" sz="16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sz="1600" dirty="0"/>
                        <a:t>כתבו פעולה המקבלת תור של תלמידים, ומחזירה מחסנית של התלמידים עם הציון הכי גבוה (יכולים להיות מספר תלמידים שקיבלו את הציון הכי גבוה). הערך הוא אובייקט </a:t>
                      </a:r>
                      <a:r>
                        <a:rPr lang="en-IL" sz="1600" dirty="0"/>
                        <a:t>Student</a:t>
                      </a:r>
                      <a:r>
                        <a:rPr lang="he-IL" sz="1600" dirty="0"/>
                        <a:t> הכולל </a:t>
                      </a:r>
                      <a:r>
                        <a:rPr lang="en-IL" sz="1600" dirty="0"/>
                        <a:t>string name</a:t>
                      </a:r>
                      <a:r>
                        <a:rPr lang="he-IL" sz="1600" dirty="0"/>
                        <a:t> ו-</a:t>
                      </a:r>
                      <a:r>
                        <a:rPr lang="en-IL" sz="1600" dirty="0"/>
                        <a:t> int grade</a:t>
                      </a:r>
                      <a:r>
                        <a:rPr lang="he-IL" sz="1600" dirty="0"/>
                        <a:t>. הניחו שיש פעולות </a:t>
                      </a:r>
                      <a:r>
                        <a:rPr lang="en-IL" sz="1600" dirty="0" err="1"/>
                        <a:t>get,set</a:t>
                      </a:r>
                      <a:r>
                        <a:rPr lang="he-IL" sz="1600" dirty="0"/>
                        <a:t> במחלקה ובנאים כפי שתבחרו. סיבוכיות הזמן חייבת להיות </a:t>
                      </a:r>
                      <a:r>
                        <a:rPr lang="en-IL" sz="1600" dirty="0"/>
                        <a:t>O(n)</a:t>
                      </a:r>
                      <a:r>
                        <a:rPr lang="he-IL" sz="16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643336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algn="l" rtl="1"/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842754"/>
                  </a:ext>
                </a:extLst>
              </a:tr>
              <a:tr h="406354">
                <a:tc>
                  <a:txBody>
                    <a:bodyPr/>
                    <a:lstStyle/>
                    <a:p>
                      <a:pPr algn="l" rtl="1"/>
                      <a:endParaRPr lang="he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686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994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r>
              <a:rPr lang="he-IL" dirty="0"/>
              <a:t>מחסנית של תורים</a:t>
            </a:r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1"/>
            <a:ext cx="2154725" cy="1550422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מציין מיקום תוכן 8">
            <a:extLst>
              <a:ext uri="{FF2B5EF4-FFF2-40B4-BE49-F238E27FC236}">
                <a16:creationId xmlns:a16="http://schemas.microsoft.com/office/drawing/2014/main" id="{1F522716-7C4F-A4B8-CA1B-4D89647BD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465"/>
            <a:ext cx="10515600" cy="5060498"/>
          </a:xfrm>
        </p:spPr>
        <p:txBody>
          <a:bodyPr/>
          <a:lstStyle/>
          <a:p>
            <a:r>
              <a:rPr lang="he-IL" dirty="0"/>
              <a:t>שאלה 13 בספר</a:t>
            </a:r>
          </a:p>
          <a:p>
            <a:endParaRPr lang="en-IL" dirty="0"/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3E38AA18-7C3E-512D-2CD6-D9A46465F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184" y="1116465"/>
            <a:ext cx="6466464" cy="5466318"/>
          </a:xfrm>
          <a:prstGeom prst="rect">
            <a:avLst/>
          </a:prstGeom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198B4F7-2B8B-FE42-F969-BA64A0F2B4C1}"/>
              </a:ext>
            </a:extLst>
          </p:cNvPr>
          <p:cNvSpPr txBox="1"/>
          <p:nvPr/>
        </p:nvSpPr>
        <p:spPr>
          <a:xfrm>
            <a:off x="9321421" y="2183642"/>
            <a:ext cx="2340591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א. פתור במקום מחסנית יהיה כתוב תור</a:t>
            </a:r>
          </a:p>
          <a:p>
            <a:r>
              <a:rPr lang="he-IL" dirty="0"/>
              <a:t>ב. </a:t>
            </a:r>
            <a:r>
              <a:rPr lang="he-IL"/>
              <a:t>במקום מחסנית יהיה כתוב מערך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85678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שאלה מבגרות 2021</a:t>
            </a:r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1"/>
            <a:ext cx="2154725" cy="1550422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מציין מיקום תוכן 13">
            <a:extLst>
              <a:ext uri="{FF2B5EF4-FFF2-40B4-BE49-F238E27FC236}">
                <a16:creationId xmlns:a16="http://schemas.microsoft.com/office/drawing/2014/main" id="{C69A3E71-90A9-76DB-0B42-093A19EEF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9020" y="1825625"/>
            <a:ext cx="2964780" cy="4351338"/>
          </a:xfrm>
        </p:spPr>
        <p:txBody>
          <a:bodyPr/>
          <a:lstStyle/>
          <a:p>
            <a:r>
              <a:rPr lang="he-IL" dirty="0"/>
              <a:t>כתוב בנוסף גם את הפעולה </a:t>
            </a:r>
            <a:r>
              <a:rPr lang="en-US" dirty="0"/>
              <a:t>size</a:t>
            </a:r>
            <a:r>
              <a:rPr lang="he-IL" dirty="0"/>
              <a:t>.</a:t>
            </a:r>
          </a:p>
          <a:p>
            <a:endParaRPr lang="he-IL" dirty="0"/>
          </a:p>
          <a:p>
            <a:r>
              <a:rPr lang="he-IL" dirty="0"/>
              <a:t>המשך בשקופית הבאה</a:t>
            </a:r>
          </a:p>
        </p:txBody>
      </p:sp>
      <p:pic>
        <p:nvPicPr>
          <p:cNvPr id="15" name="מציין מיקום תוכן 9">
            <a:extLst>
              <a:ext uri="{FF2B5EF4-FFF2-40B4-BE49-F238E27FC236}">
                <a16:creationId xmlns:a16="http://schemas.microsoft.com/office/drawing/2014/main" id="{1DB70439-B967-DF0A-4B88-FAED3BB60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95" y="1784243"/>
            <a:ext cx="7958225" cy="395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21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המשך - שאלה מבגרות 2021</a:t>
            </a:r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1"/>
            <a:ext cx="2154725" cy="1550422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08FFB924-8914-EE0C-6764-5381B1394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905" y="1253286"/>
            <a:ext cx="7037409" cy="540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562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r>
              <a:rPr lang="he-IL" dirty="0"/>
              <a:t>שאלה מבגרות 2019</a:t>
            </a:r>
          </a:p>
        </p:txBody>
      </p:sp>
      <p:grpSp>
        <p:nvGrpSpPr>
          <p:cNvPr id="4" name="קבוצה 1">
            <a:extLst>
              <a:ext uri="{FF2B5EF4-FFF2-40B4-BE49-F238E27FC236}">
                <a16:creationId xmlns:a16="http://schemas.microsoft.com/office/drawing/2014/main" id="{DD261285-3907-DE87-9BF2-930CA6760C36}"/>
              </a:ext>
            </a:extLst>
          </p:cNvPr>
          <p:cNvGrpSpPr/>
          <p:nvPr/>
        </p:nvGrpSpPr>
        <p:grpSpPr>
          <a:xfrm>
            <a:off x="0" y="1"/>
            <a:ext cx="2154725" cy="1550422"/>
            <a:chOff x="41279" y="0"/>
            <a:chExt cx="2178047" cy="1443577"/>
          </a:xfrm>
        </p:grpSpPr>
        <p:grpSp>
          <p:nvGrpSpPr>
            <p:cNvPr id="5" name="קבוצה 35">
              <a:extLst>
                <a:ext uri="{FF2B5EF4-FFF2-40B4-BE49-F238E27FC236}">
                  <a16:creationId xmlns:a16="http://schemas.microsoft.com/office/drawing/2014/main" id="{E7345979-5F06-CB89-D5AB-C2B3FDB37A16}"/>
                </a:ext>
              </a:extLst>
            </p:cNvPr>
            <p:cNvGrpSpPr/>
            <p:nvPr/>
          </p:nvGrpSpPr>
          <p:grpSpPr>
            <a:xfrm>
              <a:off x="41280" y="0"/>
              <a:ext cx="2178046" cy="1443577"/>
              <a:chOff x="3180" y="0"/>
              <a:chExt cx="2178046" cy="1412465"/>
            </a:xfrm>
          </p:grpSpPr>
          <p:pic>
            <p:nvPicPr>
              <p:cNvPr id="7" name="pasted-image.png">
                <a:extLst>
                  <a:ext uri="{FF2B5EF4-FFF2-40B4-BE49-F238E27FC236}">
                    <a16:creationId xmlns:a16="http://schemas.microsoft.com/office/drawing/2014/main" id="{7E3B2159-2842-1536-AFFB-33EC903CFD6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7242" r="7107" b="22716"/>
              <a:stretch/>
            </p:blipFill>
            <p:spPr bwMode="auto">
              <a:xfrm>
                <a:off x="569588" y="0"/>
                <a:ext cx="1056284" cy="892474"/>
              </a:xfrm>
              <a:prstGeom prst="rect">
                <a:avLst/>
              </a:prstGeom>
              <a:ln>
                <a:noFill/>
              </a:ln>
              <a:effectLst/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8" name="תיבת טקסט 2">
                <a:extLst>
                  <a:ext uri="{FF2B5EF4-FFF2-40B4-BE49-F238E27FC236}">
                    <a16:creationId xmlns:a16="http://schemas.microsoft.com/office/drawing/2014/main" id="{636CCB66-7E3F-CB13-D2FD-616B7BF467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3180" y="1141768"/>
                <a:ext cx="2178046" cy="2706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 rtl="1"/>
                <a:r>
                  <a:rPr lang="he-IL" sz="1300" dirty="0">
                    <a:solidFill>
                      <a:srgbClr val="2E74B5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בית לערכים, למצוינות וחדשנות</a:t>
                </a:r>
                <a:endParaRPr lang="en-IL" sz="1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תיבת טקסט 2">
              <a:extLst>
                <a:ext uri="{FF2B5EF4-FFF2-40B4-BE49-F238E27FC236}">
                  <a16:creationId xmlns:a16="http://schemas.microsoft.com/office/drawing/2014/main" id="{57536E30-EA82-D1EE-AF5A-DFF624C0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79" y="912133"/>
              <a:ext cx="2178045" cy="25478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 rtl="1"/>
              <a:r>
                <a:rPr lang="he-IL" sz="1400" b="1" dirty="0">
                  <a:solidFill>
                    <a:srgbClr val="2E74B5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קריית חינוך "פארק המדע"</a:t>
              </a:r>
              <a:endParaRPr lang="en-IL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pic>
        <p:nvPicPr>
          <p:cNvPr id="9" name="תמונה 8">
            <a:extLst>
              <a:ext uri="{FF2B5EF4-FFF2-40B4-BE49-F238E27FC236}">
                <a16:creationId xmlns:a16="http://schemas.microsoft.com/office/drawing/2014/main" id="{E8C71F07-334E-9D5C-832D-711775BE8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421" y="1401855"/>
            <a:ext cx="6344535" cy="30674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28549EC2-05EF-3779-D6D1-487686828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44" y="2868909"/>
            <a:ext cx="5953956" cy="32008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9142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r>
              <a:rPr lang="he-IL" dirty="0"/>
              <a:t>שאלה מבגרות 2006</a:t>
            </a:r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1CBF5447-5D0E-6E23-DDFB-684FC3705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56" y="114621"/>
            <a:ext cx="5560608" cy="659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96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r>
              <a:rPr lang="he-IL" dirty="0"/>
              <a:t>שאלה מבגרות 2009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D6407E70-9B9B-5D52-E948-C46067FB4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29" y="124342"/>
            <a:ext cx="6846069" cy="664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726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5952" y="365125"/>
            <a:ext cx="9077847" cy="802175"/>
          </a:xfrm>
        </p:spPr>
        <p:txBody>
          <a:bodyPr>
            <a:normAutofit/>
          </a:bodyPr>
          <a:lstStyle/>
          <a:p>
            <a:r>
              <a:rPr lang="he-IL" dirty="0"/>
              <a:t>שאלה מבגרות 2009 - המשך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005462D-FC30-07C8-76B6-5C5B34315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492" y="1167300"/>
            <a:ext cx="7591219" cy="549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2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r>
              <a:rPr lang="he-IL" dirty="0"/>
              <a:t>בגרות 2008 - מחסנית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D23EB5D3-A35E-2063-D4F8-18914B82E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52" y="146527"/>
            <a:ext cx="6221539" cy="658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46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94536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49982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06474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88D8A8-8C48-829F-472D-F7711E41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778"/>
          </a:xfrm>
        </p:spPr>
        <p:txBody>
          <a:bodyPr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7253975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8286</TotalTime>
  <Words>964</Words>
  <Application>Microsoft Office PowerPoint</Application>
  <PresentationFormat>מסך רחב</PresentationFormat>
  <Paragraphs>115</Paragraphs>
  <Slides>25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ערכת נושא Office</vt:lpstr>
      <vt:lpstr>תור Queue</vt:lpstr>
      <vt:lpstr>תור QUEUE</vt:lpstr>
      <vt:lpstr>מימוש תור גנרי על ידי חוליות</vt:lpstr>
      <vt:lpstr>המחלקה Queue&lt;T&gt;</vt:lpstr>
      <vt:lpstr>המחלקה Queue&lt;T&gt;</vt:lpstr>
      <vt:lpstr>תרגיל – יצירת תור ממערך</vt:lpstr>
      <vt:lpstr>תרגיל – שירשור רשימות</vt:lpstr>
      <vt:lpstr>סריקת תור</vt:lpstr>
      <vt:lpstr>סריקה באמצעות תור עזר</vt:lpstr>
      <vt:lpstr>סריקה בתור עם ערכים ייחודיים</vt:lpstr>
      <vt:lpstr>סריקה באמצעות דגל</vt:lpstr>
      <vt:lpstr>תרגילים – פעולות חיצוניות</vt:lpstr>
      <vt:lpstr>תרגילים – פעולות חיצוניות</vt:lpstr>
      <vt:lpstr>מחסנית של תורים</vt:lpstr>
      <vt:lpstr>שאלה מבגרות 2021</vt:lpstr>
      <vt:lpstr>המשך - שאלה מבגרות 2021</vt:lpstr>
      <vt:lpstr>שאלה מבגרות 2019</vt:lpstr>
      <vt:lpstr>שאלה מבגרות 2006</vt:lpstr>
      <vt:lpstr>שאלה מבגרות 2009</vt:lpstr>
      <vt:lpstr>שאלה מבגרות 2009 - המשך</vt:lpstr>
      <vt:lpstr>בגרות 2008 - מחסנית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רקורסיה</dc:title>
  <dc:creator>גלעד מרקמן</dc:creator>
  <cp:lastModifiedBy>גלעד מרקמן</cp:lastModifiedBy>
  <cp:revision>120</cp:revision>
  <dcterms:created xsi:type="dcterms:W3CDTF">2022-08-12T16:17:33Z</dcterms:created>
  <dcterms:modified xsi:type="dcterms:W3CDTF">2024-04-08T10:35:57Z</dcterms:modified>
</cp:coreProperties>
</file>