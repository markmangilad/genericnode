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8"/>
  </p:notesMasterIdLst>
  <p:sldIdLst>
    <p:sldId id="272" r:id="rId2"/>
    <p:sldId id="294" r:id="rId3"/>
    <p:sldId id="295" r:id="rId4"/>
    <p:sldId id="297" r:id="rId5"/>
    <p:sldId id="298" r:id="rId6"/>
    <p:sldId id="302" r:id="rId7"/>
    <p:sldId id="303" r:id="rId8"/>
    <p:sldId id="304" r:id="rId9"/>
    <p:sldId id="305" r:id="rId10"/>
    <p:sldId id="306" r:id="rId11"/>
    <p:sldId id="299" r:id="rId12"/>
    <p:sldId id="321" r:id="rId13"/>
    <p:sldId id="296" r:id="rId14"/>
    <p:sldId id="300" r:id="rId15"/>
    <p:sldId id="277" r:id="rId16"/>
    <p:sldId id="278" r:id="rId17"/>
    <p:sldId id="320" r:id="rId18"/>
    <p:sldId id="308" r:id="rId19"/>
    <p:sldId id="307" r:id="rId20"/>
    <p:sldId id="309" r:id="rId21"/>
    <p:sldId id="314" r:id="rId22"/>
    <p:sldId id="315" r:id="rId23"/>
    <p:sldId id="317" r:id="rId24"/>
    <p:sldId id="318" r:id="rId25"/>
    <p:sldId id="319" r:id="rId26"/>
    <p:sldId id="316" r:id="rId2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585B88B9-3B5B-4E4F-A39E-03FA435B3207}" type="datetimeFigureOut">
              <a:rPr lang="en-IL" smtClean="0"/>
              <a:t>25/03/2024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76848236-751A-4278-A371-19F4C0663D5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0845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82B354-6DB9-F0C1-73E8-5ABCB7CAD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1CECA99-4F80-822E-E4AE-0D1DF0912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F3F8A03-64B0-E0EE-A74D-A168342E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ט"ו/אדר 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1E63786-E1BD-72B7-4D20-13F28948D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ABBE675-9FA7-79E6-0F32-72405B5A4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4292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549FFA-606D-B62D-6CD8-6239DC7A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8258D50-C0D1-05E5-767D-4806F669C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C1074D-F52D-DBF0-9C84-12E74DCC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ט"ו/אדר 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CACBDFD-ADD1-5216-8624-F93D52B3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7726BE5-D46F-88CC-6912-68F3C1D1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40082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73FD95-3DFD-BCB6-CC56-9EBD62CA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BF66CFF-0DCE-88BF-8DEB-887F772EA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01753CD-B73A-2F77-3EFE-8F5A97B1B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ט"ו/אדר 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1D4F8B7-A628-9238-3C88-3069AD8C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E88BB84-01FA-1FB6-D6E8-163C131D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2085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4A1673-9CEA-2973-DBB4-F472F432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A5D471-2B0C-9AE4-8847-964A5CB79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5AB27C3-0228-62CD-A06C-FE93FD876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6D3260-F219-ABA6-98AB-FC44159F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ט"ו/אדר ב/תשפ"ד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3516599-268B-3020-4147-EC906447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09B0E99-0ADE-6FB6-2CB2-5D40485C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3837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01F048-BB55-216F-9EED-4C48DB512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325DE09-FF16-ED49-8093-25CA5C99D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59E3C77-A67C-E928-795B-5E00C961C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0A4599C-E7BE-F5F6-8303-8FE1E4DC77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FF04422-0FD4-3EEA-D284-6517B9B46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124822EC-9362-0FB5-DB78-5CACF48E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ט"ו/אדר ב/תשפ"ד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937D9B3-A232-0C4A-0147-FAB11A7E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068338B-3746-AF06-CAC6-B31ECA9D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5492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64FAEA-31F9-6F43-F763-36E1978DB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7699043-B3D7-E587-E613-4173241A7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ט"ו/אדר ב/תשפ"ד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4A134A9-F080-28AB-7A58-32A3AB40A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9492B08-A7FD-ADF0-350E-19EFC290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9930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23858BD-B7EF-E2EC-AA4C-7360AC02E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ט"ו/אדר ב/תשפ"ד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DA742C4-C703-569F-3AB7-964326C2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0FC5C37-A208-5FCB-B0B2-6E9AD10D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343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DFB054-18E9-226A-3D03-E2E0CD805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B8549C3-5482-8085-1214-7588E5883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8CBB675-0E11-A475-56EF-1430720ED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0199772-18FE-234A-DB92-E236FC61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ט"ו/אדר ב/תשפ"ד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A11E407-0687-97D4-3D5A-0A4D9F487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447CABE-2A7B-0D13-922B-6C2B5D9B1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2993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03AD58-7A39-FF15-5F97-A91FC2BF1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91E9A19-E917-20FD-D6BF-D270B631C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41E3A4D-D484-354E-DF6C-BE83ABFD4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92B80A3-EA8D-D5C3-7E63-09B157901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ט"ו/אדר ב/תשפ"ד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0807A1C-DE2D-E031-77EE-8C918369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B38454C-7366-FB69-5E4B-7D6F6FAD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8779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F2A194-DF9F-143A-0B43-AB518599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87DEE19-84CE-A744-ED90-574445F33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EE23267-41A5-62FE-F668-928B7E5A2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ט"ו/אדר 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C0B007E-BF02-5B67-2E13-E647E3AB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8640995-9771-5C85-F27B-4E4AEB1F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8844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F5AE561-CE46-8D9E-07A7-5A96A984E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8877455-C94E-BFBE-3890-D0A87E71C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84CCB16-AE46-B90B-2F5C-42D35B6B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ט"ו/אדר 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583D899-ACA6-31F1-298E-9420E684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A5EBC10-446A-F9C7-36D4-CADB3D52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373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C97DC5F-BF04-3ECE-0E78-FD9E75D49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113F6C9-1194-21E3-88B0-49AA2E079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A3B5826-B396-C69C-AC3B-7558DEC16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5DE1B-2C1D-6541-A8F1-AC9B50E37A71}" type="datetimeFigureOut">
              <a:rPr lang="he-IL" smtClean="0"/>
              <a:t>ט"ו/אדר 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3594BFD-9A93-B073-289D-0E153BB95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9CE73F4-194C-B7DB-1504-17A4E5182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466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3D8CB6-4C3E-D732-923E-5B9B1AA17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8138"/>
            <a:ext cx="9144000" cy="1711272"/>
          </a:xfrm>
        </p:spPr>
        <p:txBody>
          <a:bodyPr>
            <a:normAutofit fontScale="90000"/>
          </a:bodyPr>
          <a:lstStyle/>
          <a:p>
            <a:r>
              <a:rPr lang="he-IL" dirty="0"/>
              <a:t>חוליה - שרשרת חוליות </a:t>
            </a:r>
            <a:br>
              <a:rPr lang="he-IL" dirty="0"/>
            </a:br>
            <a:r>
              <a:rPr lang="he-IL" dirty="0"/>
              <a:t>רשימה מקושרת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51231B8-4ADE-F740-FAB4-EB98B19CA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46982"/>
            <a:ext cx="9144000" cy="1144606"/>
          </a:xfrm>
        </p:spPr>
        <p:txBody>
          <a:bodyPr>
            <a:normAutofit/>
          </a:bodyPr>
          <a:lstStyle/>
          <a:p>
            <a:r>
              <a:rPr lang="he-IL" sz="3200" dirty="0"/>
              <a:t>כיתה יא</a:t>
            </a:r>
          </a:p>
          <a:p>
            <a:r>
              <a:rPr lang="he-IL" sz="3200" dirty="0"/>
              <a:t>גלעד מרקמן</a:t>
            </a:r>
          </a:p>
        </p:txBody>
      </p:sp>
      <p:grpSp>
        <p:nvGrpSpPr>
          <p:cNvPr id="9" name="קבוצה 1">
            <a:extLst>
              <a:ext uri="{FF2B5EF4-FFF2-40B4-BE49-F238E27FC236}">
                <a16:creationId xmlns:a16="http://schemas.microsoft.com/office/drawing/2014/main" id="{5210A4A2-41E7-43DB-CD6B-3A1A7DE1C20E}"/>
              </a:ext>
            </a:extLst>
          </p:cNvPr>
          <p:cNvGrpSpPr/>
          <p:nvPr/>
        </p:nvGrpSpPr>
        <p:grpSpPr>
          <a:xfrm>
            <a:off x="110837" y="59992"/>
            <a:ext cx="2488167" cy="1918007"/>
            <a:chOff x="41279" y="0"/>
            <a:chExt cx="2178047" cy="1443577"/>
          </a:xfrm>
        </p:grpSpPr>
        <p:grpSp>
          <p:nvGrpSpPr>
            <p:cNvPr id="10" name="קבוצה 35">
              <a:extLst>
                <a:ext uri="{FF2B5EF4-FFF2-40B4-BE49-F238E27FC236}">
                  <a16:creationId xmlns:a16="http://schemas.microsoft.com/office/drawing/2014/main" id="{925A1CEE-8C18-38BE-57DD-CE2A8E6B6DF5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12" name="pasted-image.png">
                <a:extLst>
                  <a:ext uri="{FF2B5EF4-FFF2-40B4-BE49-F238E27FC236}">
                    <a16:creationId xmlns:a16="http://schemas.microsoft.com/office/drawing/2014/main" id="{789F0071-C486-6FD1-E2F7-770EC468C8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13" name="תיבת טקסט 2">
                <a:extLst>
                  <a:ext uri="{FF2B5EF4-FFF2-40B4-BE49-F238E27FC236}">
                    <a16:creationId xmlns:a16="http://schemas.microsoft.com/office/drawing/2014/main" id="{D99BB41B-5AAB-B51A-A843-2B010F138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b="1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b="1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" name="תיבת טקסט 2">
              <a:extLst>
                <a:ext uri="{FF2B5EF4-FFF2-40B4-BE49-F238E27FC236}">
                  <a16:creationId xmlns:a16="http://schemas.microsoft.com/office/drawing/2014/main" id="{F1D1A91C-A27F-A32A-7E42-06189DDB1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5" name="Picture 4" descr="A picture containing metalware, chain, toggle, accessory&#10;&#10;Description automatically generated">
            <a:extLst>
              <a:ext uri="{FF2B5EF4-FFF2-40B4-BE49-F238E27FC236}">
                <a16:creationId xmlns:a16="http://schemas.microsoft.com/office/drawing/2014/main" id="{FA7E581E-08D0-532A-5C30-3CEF4B960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512" y="106962"/>
            <a:ext cx="3755898" cy="267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92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הצורך במבנה נתונים דינאמי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F581AA-961C-AE47-C140-95CC0E391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מערך הינו מבנה נתונים המאפשר להחזיק מספר רב של נתונים מסוגים שונים. אנו יכולים להגדיר מערך של אובייקטים ולשמור בתוכו כל סוג של אובייקט.</a:t>
            </a:r>
          </a:p>
          <a:p>
            <a:r>
              <a:rPr lang="he-IL" dirty="0" err="1"/>
              <a:t>החסרון</a:t>
            </a:r>
            <a:r>
              <a:rPr lang="he-IL" dirty="0"/>
              <a:t> במערך הוא שבעת היצירה (</a:t>
            </a:r>
            <a:r>
              <a:rPr lang="he-IL" dirty="0" err="1"/>
              <a:t>האיתחול</a:t>
            </a:r>
            <a:r>
              <a:rPr lang="he-IL" dirty="0"/>
              <a:t>) המחשב מקצה גודל קבוע בזיכרון שלא ניתן לשנות אותו. ביצירת המערך אנו קובעים את מספר האיברים שיהיו במערך ולא ניתן להגדיל את מספר האיברים במערך תוך כדי ריצת התוכנית.</a:t>
            </a:r>
          </a:p>
          <a:p>
            <a:r>
              <a:rPr lang="he-IL" dirty="0"/>
              <a:t>בשל כך נוצרו מבני נתונים דינאמיים, כגון: רשימה מקושרת, מחסנית, תור, עץ בינארי ועוד.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0"/>
            <a:ext cx="2488167" cy="1918007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6692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 err="1"/>
              <a:t>החוליה</a:t>
            </a:r>
            <a:r>
              <a:rPr lang="he-IL" dirty="0"/>
              <a:t> </a:t>
            </a:r>
            <a:r>
              <a:rPr lang="en-US" dirty="0"/>
              <a:t>Node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F581AA-961C-AE47-C140-95CC0E391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 err="1"/>
              <a:t>החוליה</a:t>
            </a:r>
            <a:r>
              <a:rPr lang="he-IL" dirty="0"/>
              <a:t> היא אבן הבניין של מבני נתונים דינאמיים רבים.</a:t>
            </a:r>
          </a:p>
          <a:p>
            <a:r>
              <a:rPr lang="he-IL" dirty="0"/>
              <a:t>חוליה היא אובייקט המורכב משני פרמטרים:</a:t>
            </a:r>
          </a:p>
          <a:p>
            <a:pPr lvl="1"/>
            <a:r>
              <a:rPr lang="en-US" dirty="0"/>
              <a:t>value</a:t>
            </a:r>
            <a:r>
              <a:rPr lang="he-IL" dirty="0"/>
              <a:t> – מקום בו שומרים את הערכים / הנתונים של </a:t>
            </a:r>
            <a:r>
              <a:rPr lang="he-IL" dirty="0" err="1"/>
              <a:t>החוליה</a:t>
            </a:r>
            <a:r>
              <a:rPr lang="he-IL" dirty="0"/>
              <a:t>. הנתונים יכולים להיות מספר, מחרוזת או אובייקט.</a:t>
            </a:r>
          </a:p>
          <a:p>
            <a:pPr lvl="1"/>
            <a:r>
              <a:rPr lang="en-US" dirty="0"/>
              <a:t>Next</a:t>
            </a:r>
            <a:r>
              <a:rPr lang="he-IL" dirty="0"/>
              <a:t> - מצביע </a:t>
            </a:r>
            <a:r>
              <a:rPr lang="en-US" dirty="0"/>
              <a:t>pointer</a:t>
            </a:r>
            <a:r>
              <a:rPr lang="he-IL" dirty="0"/>
              <a:t> לחוליה הבאה.</a:t>
            </a:r>
          </a:p>
          <a:p>
            <a:pPr lvl="1"/>
            <a:endParaRPr lang="he-IL" dirty="0"/>
          </a:p>
          <a:p>
            <a:pPr lvl="1"/>
            <a:endParaRPr lang="he-IL" dirty="0"/>
          </a:p>
          <a:p>
            <a:endParaRPr lang="en-US" dirty="0"/>
          </a:p>
          <a:p>
            <a:r>
              <a:rPr lang="he-IL" dirty="0"/>
              <a:t>באמצעות שרשור של החוליות אנו יכולים ליצור מבנה נתונים ללא הגבלה, להוסיף, ולהוריד חוליות בהתאם לצורך.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0"/>
            <a:ext cx="2488167" cy="1918007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020EBF-AD99-761D-E137-0F2AFBC31A6C}"/>
              </a:ext>
            </a:extLst>
          </p:cNvPr>
          <p:cNvGrpSpPr/>
          <p:nvPr/>
        </p:nvGrpSpPr>
        <p:grpSpPr>
          <a:xfrm>
            <a:off x="2880493" y="4208756"/>
            <a:ext cx="1739527" cy="759011"/>
            <a:chOff x="647057" y="3428941"/>
            <a:chExt cx="1739527" cy="75901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A046483-3AD9-6136-0D44-FB04D8836C16}"/>
                </a:ext>
              </a:extLst>
            </p:cNvPr>
            <p:cNvGrpSpPr/>
            <p:nvPr/>
          </p:nvGrpSpPr>
          <p:grpSpPr>
            <a:xfrm>
              <a:off x="647057" y="3429000"/>
              <a:ext cx="1739527" cy="758952"/>
              <a:chOff x="647057" y="3781640"/>
              <a:chExt cx="1931550" cy="813816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49B16E-7893-C8DA-EF17-C224B5B43BD9}"/>
                  </a:ext>
                </a:extLst>
              </p:cNvPr>
              <p:cNvSpPr/>
              <p:nvPr/>
            </p:nvSpPr>
            <p:spPr>
              <a:xfrm>
                <a:off x="647057" y="3781640"/>
                <a:ext cx="1931550" cy="813816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993D72-5553-EB1F-8593-57BC0E44371A}"/>
                  </a:ext>
                </a:extLst>
              </p:cNvPr>
              <p:cNvSpPr txBox="1"/>
              <p:nvPr/>
            </p:nvSpPr>
            <p:spPr>
              <a:xfrm>
                <a:off x="742226" y="4183046"/>
                <a:ext cx="777241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value</a:t>
                </a:r>
                <a:endParaRPr lang="en-IL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F9DD0D-23BE-2403-0BB7-F6C94AE17385}"/>
                  </a:ext>
                </a:extLst>
              </p:cNvPr>
              <p:cNvSpPr txBox="1"/>
              <p:nvPr/>
            </p:nvSpPr>
            <p:spPr>
              <a:xfrm>
                <a:off x="1687041" y="4188548"/>
                <a:ext cx="777241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next</a:t>
                </a:r>
                <a:endParaRPr lang="en-IL" dirty="0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BCAA8E9-78ED-6C50-BE28-CE67A9A836DB}"/>
                </a:ext>
              </a:extLst>
            </p:cNvPr>
            <p:cNvSpPr txBox="1"/>
            <p:nvPr/>
          </p:nvSpPr>
          <p:spPr>
            <a:xfrm>
              <a:off x="1204141" y="3428941"/>
              <a:ext cx="699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node</a:t>
              </a:r>
              <a:endParaRPr lang="en-IL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6B544B-0AAC-30BB-13F4-3A08C64F306B}"/>
              </a:ext>
            </a:extLst>
          </p:cNvPr>
          <p:cNvGrpSpPr/>
          <p:nvPr/>
        </p:nvGrpSpPr>
        <p:grpSpPr>
          <a:xfrm>
            <a:off x="4892756" y="4208756"/>
            <a:ext cx="1739527" cy="759011"/>
            <a:chOff x="647057" y="3428941"/>
            <a:chExt cx="1739527" cy="75901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3762A18-5F0B-A3E1-3B5A-BAB91FAAC002}"/>
                </a:ext>
              </a:extLst>
            </p:cNvPr>
            <p:cNvGrpSpPr/>
            <p:nvPr/>
          </p:nvGrpSpPr>
          <p:grpSpPr>
            <a:xfrm>
              <a:off x="647057" y="3429000"/>
              <a:ext cx="1739527" cy="758952"/>
              <a:chOff x="647057" y="3781640"/>
              <a:chExt cx="1931550" cy="813816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D087D8-307A-4CD9-6EA0-5F9083D1CEDB}"/>
                  </a:ext>
                </a:extLst>
              </p:cNvPr>
              <p:cNvSpPr/>
              <p:nvPr/>
            </p:nvSpPr>
            <p:spPr>
              <a:xfrm>
                <a:off x="647057" y="3781640"/>
                <a:ext cx="1931550" cy="813816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5BEBA62-B418-007B-4313-F9A1AE52C416}"/>
                  </a:ext>
                </a:extLst>
              </p:cNvPr>
              <p:cNvSpPr txBox="1"/>
              <p:nvPr/>
            </p:nvSpPr>
            <p:spPr>
              <a:xfrm>
                <a:off x="742226" y="4183046"/>
                <a:ext cx="777241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value</a:t>
                </a:r>
                <a:endParaRPr lang="en-IL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8C5072-A8E5-20AF-11B0-96F39D6DADB1}"/>
                  </a:ext>
                </a:extLst>
              </p:cNvPr>
              <p:cNvSpPr txBox="1"/>
              <p:nvPr/>
            </p:nvSpPr>
            <p:spPr>
              <a:xfrm>
                <a:off x="1687041" y="4188548"/>
                <a:ext cx="777241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next</a:t>
                </a:r>
                <a:endParaRPr lang="en-IL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299D5B4-3F17-8BB1-B2F2-3E8213C45E1E}"/>
                </a:ext>
              </a:extLst>
            </p:cNvPr>
            <p:cNvSpPr txBox="1"/>
            <p:nvPr/>
          </p:nvSpPr>
          <p:spPr>
            <a:xfrm>
              <a:off x="1204141" y="3428941"/>
              <a:ext cx="699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node</a:t>
              </a:r>
              <a:endParaRPr lang="en-IL" dirty="0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7CECED-8376-D492-00AC-8713799A5DBC}"/>
              </a:ext>
            </a:extLst>
          </p:cNvPr>
          <p:cNvCxnSpPr>
            <a:stCxn id="11" idx="3"/>
            <a:endCxn id="22" idx="1"/>
          </p:cNvCxnSpPr>
          <p:nvPr/>
        </p:nvCxnSpPr>
        <p:spPr>
          <a:xfrm flipV="1">
            <a:off x="4517060" y="4588291"/>
            <a:ext cx="375696" cy="1722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664AC30-D266-BF05-E8A5-931C0D3FE6D4}"/>
              </a:ext>
            </a:extLst>
          </p:cNvPr>
          <p:cNvGrpSpPr/>
          <p:nvPr/>
        </p:nvGrpSpPr>
        <p:grpSpPr>
          <a:xfrm>
            <a:off x="6897206" y="4208785"/>
            <a:ext cx="1739527" cy="759011"/>
            <a:chOff x="647057" y="3428941"/>
            <a:chExt cx="1739527" cy="759011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A646380-3BA5-F4E8-E515-BD17A3FD6847}"/>
                </a:ext>
              </a:extLst>
            </p:cNvPr>
            <p:cNvGrpSpPr/>
            <p:nvPr/>
          </p:nvGrpSpPr>
          <p:grpSpPr>
            <a:xfrm>
              <a:off x="647057" y="3429000"/>
              <a:ext cx="1739527" cy="758952"/>
              <a:chOff x="647057" y="3781640"/>
              <a:chExt cx="1931550" cy="813816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6194A7E-79BC-05C3-F3C8-D830892EA0CB}"/>
                  </a:ext>
                </a:extLst>
              </p:cNvPr>
              <p:cNvSpPr/>
              <p:nvPr/>
            </p:nvSpPr>
            <p:spPr>
              <a:xfrm>
                <a:off x="647057" y="3781640"/>
                <a:ext cx="1931550" cy="813816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5072A85-40EF-239E-BABD-CA127E06649F}"/>
                  </a:ext>
                </a:extLst>
              </p:cNvPr>
              <p:cNvSpPr txBox="1"/>
              <p:nvPr/>
            </p:nvSpPr>
            <p:spPr>
              <a:xfrm>
                <a:off x="742226" y="4183046"/>
                <a:ext cx="777241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value</a:t>
                </a:r>
                <a:endParaRPr lang="en-IL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0C1D7BE-68B8-AD27-0580-D1440371A965}"/>
                  </a:ext>
                </a:extLst>
              </p:cNvPr>
              <p:cNvSpPr txBox="1"/>
              <p:nvPr/>
            </p:nvSpPr>
            <p:spPr>
              <a:xfrm>
                <a:off x="1687041" y="4188548"/>
                <a:ext cx="777241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next</a:t>
                </a:r>
                <a:endParaRPr lang="en-IL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8AF3ED-4AA9-FAF5-4078-B0F40D677587}"/>
                </a:ext>
              </a:extLst>
            </p:cNvPr>
            <p:cNvSpPr txBox="1"/>
            <p:nvPr/>
          </p:nvSpPr>
          <p:spPr>
            <a:xfrm>
              <a:off x="1204141" y="3428941"/>
              <a:ext cx="699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node</a:t>
              </a:r>
              <a:endParaRPr lang="en-IL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38DB8C9-F64A-AE77-8408-DB9CFBA9CCE0}"/>
              </a:ext>
            </a:extLst>
          </p:cNvPr>
          <p:cNvCxnSpPr>
            <a:cxnSpLocks/>
            <a:stCxn id="24" idx="3"/>
            <a:endCxn id="30" idx="1"/>
          </p:cNvCxnSpPr>
          <p:nvPr/>
        </p:nvCxnSpPr>
        <p:spPr>
          <a:xfrm flipV="1">
            <a:off x="6529323" y="4588320"/>
            <a:ext cx="367883" cy="1721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E3C1BFF-BFE0-BF06-9D74-420D9905B1BE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8533773" y="4689037"/>
            <a:ext cx="367883" cy="715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2854CC8-FD0A-0924-2A66-B34B40F31E74}"/>
              </a:ext>
            </a:extLst>
          </p:cNvPr>
          <p:cNvGrpSpPr/>
          <p:nvPr/>
        </p:nvGrpSpPr>
        <p:grpSpPr>
          <a:xfrm>
            <a:off x="8947555" y="4529012"/>
            <a:ext cx="160554" cy="290773"/>
            <a:chOff x="9573328" y="4312474"/>
            <a:chExt cx="149352" cy="361925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667FFEC-AD06-988C-13A8-418921435E78}"/>
                </a:ext>
              </a:extLst>
            </p:cNvPr>
            <p:cNvCxnSpPr>
              <a:cxnSpLocks/>
            </p:cNvCxnSpPr>
            <p:nvPr/>
          </p:nvCxnSpPr>
          <p:spPr>
            <a:xfrm>
              <a:off x="9573328" y="4312474"/>
              <a:ext cx="0" cy="3619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DF371EB-089B-3116-0596-36BA3C7F632E}"/>
                </a:ext>
              </a:extLst>
            </p:cNvPr>
            <p:cNvCxnSpPr>
              <a:cxnSpLocks/>
            </p:cNvCxnSpPr>
            <p:nvPr/>
          </p:nvCxnSpPr>
          <p:spPr>
            <a:xfrm>
              <a:off x="9643432" y="4369836"/>
              <a:ext cx="0" cy="247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3F8FFE9-79B4-D17D-33E8-760458158B3C}"/>
                </a:ext>
              </a:extLst>
            </p:cNvPr>
            <p:cNvCxnSpPr>
              <a:cxnSpLocks/>
            </p:cNvCxnSpPr>
            <p:nvPr/>
          </p:nvCxnSpPr>
          <p:spPr>
            <a:xfrm>
              <a:off x="9722680" y="4423667"/>
              <a:ext cx="0" cy="1395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557978DF-B8A8-CE88-D10C-A0E4565C2ED6}"/>
              </a:ext>
            </a:extLst>
          </p:cNvPr>
          <p:cNvSpPr txBox="1"/>
          <p:nvPr/>
        </p:nvSpPr>
        <p:spPr>
          <a:xfrm>
            <a:off x="1853739" y="3678153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  <a:endParaRPr lang="en-IL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A2C216-401A-58C3-ED8F-0CF658508FEF}"/>
              </a:ext>
            </a:extLst>
          </p:cNvPr>
          <p:cNvCxnSpPr>
            <a:cxnSpLocks/>
            <a:stCxn id="49" idx="2"/>
            <a:endCxn id="9" idx="1"/>
          </p:cNvCxnSpPr>
          <p:nvPr/>
        </p:nvCxnSpPr>
        <p:spPr>
          <a:xfrm>
            <a:off x="2218740" y="4047485"/>
            <a:ext cx="661753" cy="54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214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6983"/>
          </a:xfrm>
        </p:spPr>
        <p:txBody>
          <a:bodyPr/>
          <a:lstStyle/>
          <a:p>
            <a:pPr algn="ctr"/>
            <a:r>
              <a:rPr lang="he-IL" dirty="0"/>
              <a:t>חוליה פשוטה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F581AA-961C-AE47-C140-95CC0E39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2472"/>
            <a:ext cx="10515600" cy="4864492"/>
          </a:xfrm>
        </p:spPr>
        <p:txBody>
          <a:bodyPr>
            <a:normAutofit/>
          </a:bodyPr>
          <a:lstStyle/>
          <a:p>
            <a:r>
              <a:rPr lang="he-IL" dirty="0"/>
              <a:t>נגדיר לדוגמה חוליה המקבלת ערכים של </a:t>
            </a:r>
            <a:r>
              <a:rPr lang="en-US" dirty="0"/>
              <a:t>int</a:t>
            </a:r>
            <a:r>
              <a:rPr lang="he-IL" dirty="0"/>
              <a:t>, ונבנה שרשרת של שתי חוליות:</a:t>
            </a:r>
          </a:p>
        </p:txBody>
      </p:sp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64705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724C38-1379-F8AD-3F66-1F6B64562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453" y="2174383"/>
            <a:ext cx="3879337" cy="231268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EE69C5E5-330C-DE93-4072-800A0A4F1F61}"/>
              </a:ext>
            </a:extLst>
          </p:cNvPr>
          <p:cNvGrpSpPr/>
          <p:nvPr/>
        </p:nvGrpSpPr>
        <p:grpSpPr>
          <a:xfrm>
            <a:off x="6928472" y="5545529"/>
            <a:ext cx="4303443" cy="759011"/>
            <a:chOff x="6858133" y="5061100"/>
            <a:chExt cx="4303443" cy="75901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5AF91DE-6541-40D4-7CFD-F8461C7D9658}"/>
                </a:ext>
              </a:extLst>
            </p:cNvPr>
            <p:cNvGrpSpPr/>
            <p:nvPr/>
          </p:nvGrpSpPr>
          <p:grpSpPr>
            <a:xfrm>
              <a:off x="6858133" y="5061100"/>
              <a:ext cx="1739527" cy="759011"/>
              <a:chOff x="647057" y="3428941"/>
              <a:chExt cx="1739527" cy="759011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669C07F-65BA-4C1D-BBE1-0D45B3644E99}"/>
                  </a:ext>
                </a:extLst>
              </p:cNvPr>
              <p:cNvGrpSpPr/>
              <p:nvPr/>
            </p:nvGrpSpPr>
            <p:grpSpPr>
              <a:xfrm>
                <a:off x="647057" y="3429000"/>
                <a:ext cx="1739527" cy="758952"/>
                <a:chOff x="647057" y="3781640"/>
                <a:chExt cx="1931550" cy="813816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CF396FC-8347-7724-973B-2DDD83EDBF0A}"/>
                    </a:ext>
                  </a:extLst>
                </p:cNvPr>
                <p:cNvSpPr/>
                <p:nvPr/>
              </p:nvSpPr>
              <p:spPr>
                <a:xfrm>
                  <a:off x="647057" y="3781640"/>
                  <a:ext cx="1931550" cy="813816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896EF18-1E61-7410-6B83-1908B58CB209}"/>
                    </a:ext>
                  </a:extLst>
                </p:cNvPr>
                <p:cNvSpPr txBox="1"/>
                <p:nvPr/>
              </p:nvSpPr>
              <p:spPr>
                <a:xfrm>
                  <a:off x="742226" y="4183046"/>
                  <a:ext cx="777241" cy="396031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10</a:t>
                  </a:r>
                  <a:endParaRPr lang="en-IL" dirty="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7ED5CBB-05BA-7FB3-DEA8-CF65FDC1B6F3}"/>
                    </a:ext>
                  </a:extLst>
                </p:cNvPr>
                <p:cNvSpPr txBox="1"/>
                <p:nvPr/>
              </p:nvSpPr>
              <p:spPr>
                <a:xfrm>
                  <a:off x="1687041" y="4188548"/>
                  <a:ext cx="777241" cy="369332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next</a:t>
                  </a:r>
                  <a:endParaRPr lang="en-IL" dirty="0"/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6984E3-773A-E0CC-8AD4-585D7EADB590}"/>
                  </a:ext>
                </a:extLst>
              </p:cNvPr>
              <p:cNvSpPr txBox="1"/>
              <p:nvPr/>
            </p:nvSpPr>
            <p:spPr>
              <a:xfrm>
                <a:off x="1204141" y="3428941"/>
                <a:ext cx="6999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node</a:t>
                </a:r>
                <a:endParaRPr lang="en-IL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6B58E1D-FCE8-ADAF-58F4-CC603AE503A2}"/>
                </a:ext>
              </a:extLst>
            </p:cNvPr>
            <p:cNvGrpSpPr/>
            <p:nvPr/>
          </p:nvGrpSpPr>
          <p:grpSpPr>
            <a:xfrm>
              <a:off x="8870396" y="5061100"/>
              <a:ext cx="1739527" cy="759011"/>
              <a:chOff x="647057" y="3428941"/>
              <a:chExt cx="1739527" cy="759011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CCBD044-57BD-4C29-D5B0-4D96C20C0BA1}"/>
                  </a:ext>
                </a:extLst>
              </p:cNvPr>
              <p:cNvGrpSpPr/>
              <p:nvPr/>
            </p:nvGrpSpPr>
            <p:grpSpPr>
              <a:xfrm>
                <a:off x="647057" y="3429000"/>
                <a:ext cx="1739527" cy="758952"/>
                <a:chOff x="647057" y="3781640"/>
                <a:chExt cx="1931550" cy="813816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1C448BF-160E-487C-0F48-7DC02C038745}"/>
                    </a:ext>
                  </a:extLst>
                </p:cNvPr>
                <p:cNvSpPr/>
                <p:nvPr/>
              </p:nvSpPr>
              <p:spPr>
                <a:xfrm>
                  <a:off x="647057" y="3781640"/>
                  <a:ext cx="1931550" cy="813816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CF3419E-B4EE-417B-6629-E5EACB22388B}"/>
                    </a:ext>
                  </a:extLst>
                </p:cNvPr>
                <p:cNvSpPr txBox="1"/>
                <p:nvPr/>
              </p:nvSpPr>
              <p:spPr>
                <a:xfrm>
                  <a:off x="742226" y="4183046"/>
                  <a:ext cx="777241" cy="396031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20</a:t>
                  </a:r>
                  <a:endParaRPr lang="en-IL" dirty="0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98058F9-BF49-8A09-6001-40B7929CF06B}"/>
                    </a:ext>
                  </a:extLst>
                </p:cNvPr>
                <p:cNvSpPr txBox="1"/>
                <p:nvPr/>
              </p:nvSpPr>
              <p:spPr>
                <a:xfrm>
                  <a:off x="1687041" y="4188548"/>
                  <a:ext cx="777241" cy="369332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next</a:t>
                  </a:r>
                  <a:endParaRPr lang="en-IL" dirty="0"/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212C8-7C0A-B05E-053E-7F4F15D6BFD0}"/>
                  </a:ext>
                </a:extLst>
              </p:cNvPr>
              <p:cNvSpPr txBox="1"/>
              <p:nvPr/>
            </p:nvSpPr>
            <p:spPr>
              <a:xfrm>
                <a:off x="1204141" y="3428941"/>
                <a:ext cx="6999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node</a:t>
                </a:r>
                <a:endParaRPr lang="en-IL" dirty="0"/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517310B-7493-224E-82AD-9C1D09F67A7F}"/>
                </a:ext>
              </a:extLst>
            </p:cNvPr>
            <p:cNvCxnSpPr>
              <a:cxnSpLocks/>
              <a:stCxn id="18" idx="3"/>
              <a:endCxn id="22" idx="1"/>
            </p:cNvCxnSpPr>
            <p:nvPr/>
          </p:nvCxnSpPr>
          <p:spPr>
            <a:xfrm flipV="1">
              <a:off x="8494700" y="5440635"/>
              <a:ext cx="375696" cy="17221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4A091C4-7FCB-B46F-1F64-BDB7BD66421A}"/>
                </a:ext>
              </a:extLst>
            </p:cNvPr>
            <p:cNvGrpSpPr/>
            <p:nvPr/>
          </p:nvGrpSpPr>
          <p:grpSpPr>
            <a:xfrm>
              <a:off x="11001022" y="5285045"/>
              <a:ext cx="160554" cy="290773"/>
              <a:chOff x="9573328" y="4312474"/>
              <a:chExt cx="149352" cy="361925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D3B73219-5A05-2CC3-1665-934399EF2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73328" y="4312474"/>
                <a:ext cx="0" cy="36192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512BBF0-E9D9-2F47-4B54-0F4781E5E7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43432" y="4369836"/>
                <a:ext cx="0" cy="24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8FAFC3A-1AB6-78A0-09C1-F61008B834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2680" y="4423667"/>
                <a:ext cx="0" cy="13953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6A82B39-85FF-4639-8317-35408BC2B4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4130" y="5430432"/>
              <a:ext cx="475691" cy="1897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30BCAB04-541D-895A-0A16-C7C74A366C43}"/>
              </a:ext>
            </a:extLst>
          </p:cNvPr>
          <p:cNvSpPr txBox="1"/>
          <p:nvPr/>
        </p:nvSpPr>
        <p:spPr>
          <a:xfrm>
            <a:off x="6004894" y="4801793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head</a:t>
            </a:r>
            <a:endParaRPr lang="en-IL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5065F9F-7FB4-2981-F3D0-DC6A4342E5F6}"/>
              </a:ext>
            </a:extLst>
          </p:cNvPr>
          <p:cNvCxnSpPr>
            <a:cxnSpLocks/>
            <a:stCxn id="39" idx="2"/>
            <a:endCxn id="16" idx="1"/>
          </p:cNvCxnSpPr>
          <p:nvPr/>
        </p:nvCxnSpPr>
        <p:spPr>
          <a:xfrm>
            <a:off x="6369895" y="5171125"/>
            <a:ext cx="558577" cy="7539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9C9BC97-8E0D-9000-037A-35574F56A2D1}"/>
              </a:ext>
            </a:extLst>
          </p:cNvPr>
          <p:cNvSpPr txBox="1"/>
          <p:nvPr/>
        </p:nvSpPr>
        <p:spPr>
          <a:xfrm>
            <a:off x="9483751" y="4801793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  <a:endParaRPr lang="en-IL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A5FA77F-2703-6314-5256-1540C05C440A}"/>
              </a:ext>
            </a:extLst>
          </p:cNvPr>
          <p:cNvCxnSpPr>
            <a:cxnSpLocks/>
            <a:stCxn id="46" idx="2"/>
            <a:endCxn id="21" idx="0"/>
          </p:cNvCxnSpPr>
          <p:nvPr/>
        </p:nvCxnSpPr>
        <p:spPr>
          <a:xfrm flipH="1">
            <a:off x="9847805" y="5171125"/>
            <a:ext cx="947" cy="3744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EC733C9A-3091-153D-1691-4973977BF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102" y="1891067"/>
            <a:ext cx="5544192" cy="273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05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419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מהי תמונת הזיכרון של הקוד הבא?</a:t>
            </a:r>
          </a:p>
        </p:txBody>
      </p:sp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64705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BAAC7B-A599-03AA-F7BC-AFFBC1CF1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28" y="2437937"/>
            <a:ext cx="3389477" cy="2662397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3E8A4FD-2047-138E-B4F9-F42E40C2EF22}"/>
              </a:ext>
            </a:extLst>
          </p:cNvPr>
          <p:cNvGrpSpPr/>
          <p:nvPr/>
        </p:nvGrpSpPr>
        <p:grpSpPr>
          <a:xfrm>
            <a:off x="4892813" y="1486334"/>
            <a:ext cx="5222617" cy="1502747"/>
            <a:chOff x="4892813" y="1486334"/>
            <a:chExt cx="5222617" cy="1502747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CBB16AA-03BD-B21C-0815-52036B666316}"/>
                </a:ext>
              </a:extLst>
            </p:cNvPr>
            <p:cNvGrpSpPr/>
            <p:nvPr/>
          </p:nvGrpSpPr>
          <p:grpSpPr>
            <a:xfrm>
              <a:off x="5816391" y="2230070"/>
              <a:ext cx="4299039" cy="759011"/>
              <a:chOff x="6858133" y="5061100"/>
              <a:chExt cx="4299039" cy="759011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CCB29CC1-BBF5-214E-32FF-649FFD548B4F}"/>
                  </a:ext>
                </a:extLst>
              </p:cNvPr>
              <p:cNvGrpSpPr/>
              <p:nvPr/>
            </p:nvGrpSpPr>
            <p:grpSpPr>
              <a:xfrm>
                <a:off x="6858133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77C110A8-9571-8C66-A780-3A16F333E429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A15AB06B-305B-0410-0CB6-5C3B89B33594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AE521B9C-E7C5-9A97-6B39-2135F6530501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10</a:t>
                    </a:r>
                    <a:endParaRPr lang="en-IL" dirty="0"/>
                  </a:p>
                </p:txBody>
              </p: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93672E59-1CE3-3B7B-14D7-CF23BD8C3C53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88548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E0C3D837-5FBD-EAAA-5131-C384DAB5D30E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647658C-3578-C67F-A990-EBD2A98A5F89}"/>
                  </a:ext>
                </a:extLst>
              </p:cNvPr>
              <p:cNvGrpSpPr/>
              <p:nvPr/>
            </p:nvGrpSpPr>
            <p:grpSpPr>
              <a:xfrm>
                <a:off x="8870396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637E4B69-658D-0B62-F50C-CA89B2581482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12A2FA7B-F60D-F1C5-7DFC-7C3716F4F6B9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1404057F-CB4F-C586-B431-EA40C8FCE36F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20</a:t>
                    </a:r>
                    <a:endParaRPr lang="en-IL" dirty="0"/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8F9580F0-8B64-CD95-BED4-B58938589FD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88548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C2C2E2F-55DA-517A-9727-120255731C39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2C9DAD9A-5AE5-4982-5226-FF2F0DE6F47E}"/>
                  </a:ext>
                </a:extLst>
              </p:cNvPr>
              <p:cNvCxnSpPr>
                <a:cxnSpLocks/>
                <a:stCxn id="67" idx="3"/>
                <a:endCxn id="60" idx="1"/>
              </p:cNvCxnSpPr>
              <p:nvPr/>
            </p:nvCxnSpPr>
            <p:spPr>
              <a:xfrm flipV="1">
                <a:off x="8494700" y="5440635"/>
                <a:ext cx="375696" cy="17221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C62D1E82-5B7B-D5BD-E125-4256F02E8A46}"/>
                  </a:ext>
                </a:extLst>
              </p:cNvPr>
              <p:cNvGrpSpPr/>
              <p:nvPr/>
            </p:nvGrpSpPr>
            <p:grpSpPr>
              <a:xfrm>
                <a:off x="11007818" y="5458511"/>
                <a:ext cx="149354" cy="290772"/>
                <a:chOff x="10298162" y="4547661"/>
                <a:chExt cx="149354" cy="363464"/>
              </a:xfrm>
            </p:grpSpPr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EC2E5B7-DFE3-71C5-AAE4-A327432C04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98162" y="4547661"/>
                  <a:ext cx="0" cy="36346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209ABF4B-D6CC-E01F-34C7-F1015D4B83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68268" y="4605218"/>
                  <a:ext cx="0" cy="24824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D46B92BE-9BA7-64B0-E7E7-879547955D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47516" y="4659278"/>
                  <a:ext cx="0" cy="14013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60B9F777-8DE4-A896-A093-837A5D3375C3}"/>
                  </a:ext>
                </a:extLst>
              </p:cNvPr>
              <p:cNvCxnSpPr>
                <a:cxnSpLocks/>
                <a:stCxn id="62" idx="3"/>
              </p:cNvCxnSpPr>
              <p:nvPr/>
            </p:nvCxnSpPr>
            <p:spPr>
              <a:xfrm flipV="1">
                <a:off x="10506963" y="5600118"/>
                <a:ext cx="472858" cy="1273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31A3B3B-C167-5F28-1C4B-DD6476E54CB1}"/>
                </a:ext>
              </a:extLst>
            </p:cNvPr>
            <p:cNvSpPr txBox="1"/>
            <p:nvPr/>
          </p:nvSpPr>
          <p:spPr>
            <a:xfrm>
              <a:off x="4892813" y="1486334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head</a:t>
              </a:r>
              <a:endParaRPr lang="en-IL" dirty="0"/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38F6F4E8-FC8A-F389-F56F-83AE66AD47D4}"/>
                </a:ext>
              </a:extLst>
            </p:cNvPr>
            <p:cNvCxnSpPr>
              <a:cxnSpLocks/>
              <a:stCxn id="68" idx="2"/>
              <a:endCxn id="65" idx="1"/>
            </p:cNvCxnSpPr>
            <p:nvPr/>
          </p:nvCxnSpPr>
          <p:spPr>
            <a:xfrm>
              <a:off x="5257814" y="1855666"/>
              <a:ext cx="558577" cy="7539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B1E66E6-7B1A-70FA-F433-69EEE3BB4E22}"/>
                </a:ext>
              </a:extLst>
            </p:cNvPr>
            <p:cNvSpPr txBox="1"/>
            <p:nvPr/>
          </p:nvSpPr>
          <p:spPr>
            <a:xfrm>
              <a:off x="8371670" y="1486334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</a:t>
              </a:r>
              <a:endParaRPr lang="en-IL" dirty="0"/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8926EB38-D41B-7C37-661E-FA51E924916D}"/>
                </a:ext>
              </a:extLst>
            </p:cNvPr>
            <p:cNvCxnSpPr>
              <a:cxnSpLocks/>
              <a:stCxn id="70" idx="2"/>
              <a:endCxn id="59" idx="0"/>
            </p:cNvCxnSpPr>
            <p:nvPr/>
          </p:nvCxnSpPr>
          <p:spPr>
            <a:xfrm flipH="1">
              <a:off x="8735724" y="1855666"/>
              <a:ext cx="947" cy="3744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4CFFA7D-F4F1-374D-1548-2B7A85750EB4}"/>
              </a:ext>
            </a:extLst>
          </p:cNvPr>
          <p:cNvGrpSpPr/>
          <p:nvPr/>
        </p:nvGrpSpPr>
        <p:grpSpPr>
          <a:xfrm>
            <a:off x="4888409" y="3429000"/>
            <a:ext cx="5227021" cy="3101612"/>
            <a:chOff x="4888409" y="3429000"/>
            <a:chExt cx="5227021" cy="3101612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449E051-FBCD-70E7-FB4D-43284F5E8053}"/>
                </a:ext>
              </a:extLst>
            </p:cNvPr>
            <p:cNvGrpSpPr/>
            <p:nvPr/>
          </p:nvGrpSpPr>
          <p:grpSpPr>
            <a:xfrm>
              <a:off x="5811987" y="4172736"/>
              <a:ext cx="4303443" cy="1978400"/>
              <a:chOff x="6858133" y="5061100"/>
              <a:chExt cx="4303443" cy="1978400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F4EDF89C-1C31-BE8F-7AE5-C1E06929AB89}"/>
                  </a:ext>
                </a:extLst>
              </p:cNvPr>
              <p:cNvGrpSpPr/>
              <p:nvPr/>
            </p:nvGrpSpPr>
            <p:grpSpPr>
              <a:xfrm>
                <a:off x="6858133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3BAE2616-CC2A-78FD-B26F-F550FDF2B550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57A0B0EE-2130-0735-E058-3A36CB6CAA88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9F8764B0-4A42-7EAF-3603-1CCEF7B82125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10</a:t>
                    </a:r>
                    <a:endParaRPr lang="en-IL" dirty="0"/>
                  </a:p>
                </p:txBody>
              </p:sp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9EE8A478-8773-45E3-F6E5-7676D28AE95B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88548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18C5292-0D7B-3229-9AA6-1AEB80F5B806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01BF48E2-BD09-B92A-09DA-0A14305D9E28}"/>
                  </a:ext>
                </a:extLst>
              </p:cNvPr>
              <p:cNvGrpSpPr/>
              <p:nvPr/>
            </p:nvGrpSpPr>
            <p:grpSpPr>
              <a:xfrm>
                <a:off x="8870396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1AB617B8-E7F7-4930-C3AB-B0C4FA8B40BB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84" name="Rectangle 83">
                    <a:extLst>
                      <a:ext uri="{FF2B5EF4-FFF2-40B4-BE49-F238E27FC236}">
                        <a16:creationId xmlns:a16="http://schemas.microsoft.com/office/drawing/2014/main" id="{94D73EC5-09C5-DE4F-A402-71DC06F6808E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88507815-AA11-9184-6F6B-CE015FF49855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20</a:t>
                    </a:r>
                    <a:endParaRPr lang="en-IL" dirty="0"/>
                  </a:p>
                </p:txBody>
              </p:sp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F3B50183-7A4A-0A45-ED55-2B80022A61FD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88548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736083BA-BE2B-740B-4309-E80F6C316DB4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FB103316-B193-3031-8138-5693AB8D9901}"/>
                  </a:ext>
                </a:extLst>
              </p:cNvPr>
              <p:cNvCxnSpPr>
                <a:cxnSpLocks/>
                <a:stCxn id="91" idx="3"/>
                <a:endCxn id="44" idx="1"/>
              </p:cNvCxnSpPr>
              <p:nvPr/>
            </p:nvCxnSpPr>
            <p:spPr>
              <a:xfrm>
                <a:off x="8494700" y="5612852"/>
                <a:ext cx="372863" cy="142664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6FB1436F-8E90-63A1-8B9E-A554AC19B8C8}"/>
                  </a:ext>
                </a:extLst>
              </p:cNvPr>
              <p:cNvGrpSpPr/>
              <p:nvPr/>
            </p:nvGrpSpPr>
            <p:grpSpPr>
              <a:xfrm>
                <a:off x="11001022" y="5285045"/>
                <a:ext cx="160554" cy="290773"/>
                <a:chOff x="9573328" y="4312474"/>
                <a:chExt cx="149352" cy="361925"/>
              </a:xfrm>
            </p:grpSpPr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F24A059D-651E-3691-BD93-499A5E6449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73328" y="4312474"/>
                  <a:ext cx="0" cy="36192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5187E14B-660D-6B11-7F3E-6666AC4368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43432" y="4369836"/>
                  <a:ext cx="0" cy="247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43D4BB84-3E3C-D801-C7EE-A619F2D618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22680" y="4423667"/>
                  <a:ext cx="0" cy="13953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1FBF1A83-0298-4A27-4052-619CBE576C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04130" y="5430432"/>
                <a:ext cx="475691" cy="1897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F732F3B-B874-56EA-2FF9-A9152DFADAE9}"/>
                </a:ext>
              </a:extLst>
            </p:cNvPr>
            <p:cNvSpPr txBox="1"/>
            <p:nvPr/>
          </p:nvSpPr>
          <p:spPr>
            <a:xfrm>
              <a:off x="4888409" y="3429000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head</a:t>
              </a:r>
              <a:endParaRPr lang="en-IL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4A241D7E-F894-4F14-723B-39AB432E8972}"/>
                </a:ext>
              </a:extLst>
            </p:cNvPr>
            <p:cNvCxnSpPr>
              <a:cxnSpLocks/>
              <a:stCxn id="92" idx="2"/>
              <a:endCxn id="89" idx="1"/>
            </p:cNvCxnSpPr>
            <p:nvPr/>
          </p:nvCxnSpPr>
          <p:spPr>
            <a:xfrm>
              <a:off x="5253410" y="3798332"/>
              <a:ext cx="558577" cy="7539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CF130C7-1B1C-3390-E69D-D3EB06C617D5}"/>
                </a:ext>
              </a:extLst>
            </p:cNvPr>
            <p:cNvSpPr txBox="1"/>
            <p:nvPr/>
          </p:nvSpPr>
          <p:spPr>
            <a:xfrm>
              <a:off x="8357615" y="5070556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</a:t>
              </a:r>
              <a:endParaRPr lang="en-IL" dirty="0"/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A3549F51-8470-F00B-D3AF-F2F71A40BC5B}"/>
                </a:ext>
              </a:extLst>
            </p:cNvPr>
            <p:cNvCxnSpPr>
              <a:cxnSpLocks/>
              <a:stCxn id="94" idx="2"/>
              <a:endCxn id="47" idx="0"/>
            </p:cNvCxnSpPr>
            <p:nvPr/>
          </p:nvCxnSpPr>
          <p:spPr>
            <a:xfrm>
              <a:off x="8722616" y="5439888"/>
              <a:ext cx="5871" cy="3317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CDDDB5B6-B748-54CB-B600-676C269D800B}"/>
                </a:ext>
              </a:extLst>
            </p:cNvPr>
            <p:cNvGrpSpPr/>
            <p:nvPr/>
          </p:nvGrpSpPr>
          <p:grpSpPr>
            <a:xfrm>
              <a:off x="7821417" y="5771601"/>
              <a:ext cx="2294013" cy="759011"/>
              <a:chOff x="7828654" y="5301020"/>
              <a:chExt cx="2294013" cy="759011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E26A8A37-E89F-5E60-BACE-4FB430056A88}"/>
                  </a:ext>
                </a:extLst>
              </p:cNvPr>
              <p:cNvGrpSpPr/>
              <p:nvPr/>
            </p:nvGrpSpPr>
            <p:grpSpPr>
              <a:xfrm>
                <a:off x="7828654" y="5301020"/>
                <a:ext cx="1739527" cy="759011"/>
                <a:chOff x="7032595" y="4371527"/>
                <a:chExt cx="1739527" cy="759011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09BD5175-AD67-F0F0-DF02-8C272DC44EE1}"/>
                    </a:ext>
                  </a:extLst>
                </p:cNvPr>
                <p:cNvSpPr/>
                <p:nvPr/>
              </p:nvSpPr>
              <p:spPr>
                <a:xfrm>
                  <a:off x="7032595" y="4371586"/>
                  <a:ext cx="1739527" cy="758952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9481EB4-519F-FF70-8C73-F92CFF816B41}"/>
                    </a:ext>
                  </a:extLst>
                </p:cNvPr>
                <p:cNvSpPr txBox="1"/>
                <p:nvPr/>
              </p:nvSpPr>
              <p:spPr>
                <a:xfrm>
                  <a:off x="7118303" y="4745931"/>
                  <a:ext cx="699972" cy="369332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he-IL" dirty="0"/>
                    <a:t>3</a:t>
                  </a:r>
                  <a:r>
                    <a:rPr lang="en-US" dirty="0"/>
                    <a:t>0</a:t>
                  </a:r>
                  <a:endParaRPr lang="en-IL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B641A7A-9DEB-BF53-7CDC-EC92A0214287}"/>
                    </a:ext>
                  </a:extLst>
                </p:cNvPr>
                <p:cNvSpPr txBox="1"/>
                <p:nvPr/>
              </p:nvSpPr>
              <p:spPr>
                <a:xfrm>
                  <a:off x="7969190" y="4751062"/>
                  <a:ext cx="699972" cy="344433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next</a:t>
                  </a:r>
                  <a:endParaRPr lang="en-IL" dirty="0"/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CC91CC1-AAD5-B179-735B-AC45A3270001}"/>
                    </a:ext>
                  </a:extLst>
                </p:cNvPr>
                <p:cNvSpPr txBox="1"/>
                <p:nvPr/>
              </p:nvSpPr>
              <p:spPr>
                <a:xfrm>
                  <a:off x="7589679" y="4371527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2CDE5CA-8F85-7329-64B8-5771F48A70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62113" y="5556559"/>
                <a:ext cx="0" cy="29077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DE851D18-3688-29A0-A6C7-667A283ED9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37475" y="5602644"/>
                <a:ext cx="0" cy="1986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5B30A06F-C0FC-216A-2E35-70A3A15701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22667" y="5645892"/>
                <a:ext cx="0" cy="11210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3901E7D-FE81-03B1-E1DF-C89A9F20ABBF}"/>
                  </a:ext>
                </a:extLst>
              </p:cNvPr>
              <p:cNvCxnSpPr>
                <a:cxnSpLocks/>
                <a:stCxn id="46" idx="3"/>
              </p:cNvCxnSpPr>
              <p:nvPr/>
            </p:nvCxnSpPr>
            <p:spPr>
              <a:xfrm flipV="1">
                <a:off x="9465221" y="5701946"/>
                <a:ext cx="475691" cy="1508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46B799C-57BA-6AC6-01DC-B641B3995AE6}"/>
                </a:ext>
              </a:extLst>
            </p:cNvPr>
            <p:cNvCxnSpPr>
              <a:cxnSpLocks/>
            </p:cNvCxnSpPr>
            <p:nvPr/>
          </p:nvCxnSpPr>
          <p:spPr>
            <a:xfrm>
              <a:off x="7626096" y="3798332"/>
              <a:ext cx="2184518" cy="139432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0F87EA1-C571-3513-A2AC-338F690A1E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2618" y="3738821"/>
              <a:ext cx="1949762" cy="152885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97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מהי תמונת </a:t>
            </a:r>
            <a:r>
              <a:rPr lang="he-IL" dirty="0" err="1"/>
              <a:t>הזכרון</a:t>
            </a:r>
            <a:r>
              <a:rPr lang="he-IL" dirty="0"/>
              <a:t> של הקוד הבא</a:t>
            </a:r>
          </a:p>
        </p:txBody>
      </p:sp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64705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772FE45-523F-30E1-1849-B8F146BBED92}"/>
              </a:ext>
            </a:extLst>
          </p:cNvPr>
          <p:cNvGrpSpPr/>
          <p:nvPr/>
        </p:nvGrpSpPr>
        <p:grpSpPr>
          <a:xfrm>
            <a:off x="5025877" y="4029947"/>
            <a:ext cx="6439976" cy="1644722"/>
            <a:chOff x="5811987" y="3287025"/>
            <a:chExt cx="6439976" cy="164472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27C8550-E986-3F5C-7D03-2934995FC2EB}"/>
                </a:ext>
              </a:extLst>
            </p:cNvPr>
            <p:cNvGrpSpPr/>
            <p:nvPr/>
          </p:nvGrpSpPr>
          <p:grpSpPr>
            <a:xfrm>
              <a:off x="5811987" y="4172736"/>
              <a:ext cx="4121688" cy="759011"/>
              <a:chOff x="6858133" y="5061100"/>
              <a:chExt cx="4121688" cy="759011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FEB19ACB-9A2E-95B7-83F4-5E775258F04A}"/>
                  </a:ext>
                </a:extLst>
              </p:cNvPr>
              <p:cNvGrpSpPr/>
              <p:nvPr/>
            </p:nvGrpSpPr>
            <p:grpSpPr>
              <a:xfrm>
                <a:off x="6858133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A7442BAA-696B-6F59-78CF-503071217F8A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75D78E68-E9AD-CBE0-ED8D-E90744C10447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2060363D-EA8D-86A8-037A-067C485C653B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10</a:t>
                    </a:r>
                    <a:endParaRPr lang="en-IL" dirty="0"/>
                  </a:p>
                </p:txBody>
              </p:sp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EFD89C0C-5829-5CE6-4C5C-40E17A1C5EA7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98656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AFA4530-943E-9C55-B9EC-A1DA3C78DDC8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6CCFF3A-C8E0-5D02-602F-3E28641E3D23}"/>
                  </a:ext>
                </a:extLst>
              </p:cNvPr>
              <p:cNvGrpSpPr/>
              <p:nvPr/>
            </p:nvGrpSpPr>
            <p:grpSpPr>
              <a:xfrm>
                <a:off x="8870396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DABF29F-E93F-0F10-573E-516631C85E26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3AA3B89B-28F1-8EB4-D911-EB89EDF399E3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FF4B7C3-862E-27F8-900E-FDCFE82AF357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20</a:t>
                    </a:r>
                    <a:endParaRPr lang="en-IL" dirty="0"/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FCF99FCF-F741-18EA-2CA9-E4488F62BBD3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98656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1980262-A388-3CAA-FA13-4C4DD84D4D4F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F0B06205-AE94-FE09-4ED0-72FD5BE2F9A1}"/>
                  </a:ext>
                </a:extLst>
              </p:cNvPr>
              <p:cNvCxnSpPr>
                <a:cxnSpLocks/>
                <a:stCxn id="40" idx="3"/>
                <a:endCxn id="33" idx="1"/>
              </p:cNvCxnSpPr>
              <p:nvPr/>
            </p:nvCxnSpPr>
            <p:spPr>
              <a:xfrm flipV="1">
                <a:off x="8494700" y="5440635"/>
                <a:ext cx="375696" cy="1816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DC78FFB6-5CCC-B258-2ED0-1B805D2FE5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04130" y="5430432"/>
                <a:ext cx="475691" cy="1897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692D661-7B18-3B0A-9EA0-C0641157AE46}"/>
                </a:ext>
              </a:extLst>
            </p:cNvPr>
            <p:cNvSpPr txBox="1"/>
            <p:nvPr/>
          </p:nvSpPr>
          <p:spPr>
            <a:xfrm>
              <a:off x="6357895" y="3287025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head</a:t>
              </a:r>
              <a:endParaRPr lang="en-IL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6BC3616-73E3-E388-90E3-02992B7FC9C5}"/>
                </a:ext>
              </a:extLst>
            </p:cNvPr>
            <p:cNvCxnSpPr>
              <a:cxnSpLocks/>
              <a:stCxn id="6" idx="2"/>
              <a:endCxn id="37" idx="0"/>
            </p:cNvCxnSpPr>
            <p:nvPr/>
          </p:nvCxnSpPr>
          <p:spPr>
            <a:xfrm flipH="1">
              <a:off x="6719057" y="3656357"/>
              <a:ext cx="3839" cy="5163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FEA1D7-4295-DF43-B7A2-AA585730282A}"/>
                </a:ext>
              </a:extLst>
            </p:cNvPr>
            <p:cNvSpPr txBox="1"/>
            <p:nvPr/>
          </p:nvSpPr>
          <p:spPr>
            <a:xfrm>
              <a:off x="10799157" y="3471691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</a:t>
              </a:r>
              <a:endParaRPr lang="en-IL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FACABC0-C187-84CE-AEC3-2FC13DF81605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11164158" y="3841023"/>
              <a:ext cx="5871" cy="3317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FE58796-2BC0-52C1-FD2D-41873F2C1579}"/>
                </a:ext>
              </a:extLst>
            </p:cNvPr>
            <p:cNvGrpSpPr/>
            <p:nvPr/>
          </p:nvGrpSpPr>
          <p:grpSpPr>
            <a:xfrm>
              <a:off x="9937800" y="4167934"/>
              <a:ext cx="2314163" cy="758952"/>
              <a:chOff x="9945037" y="3697353"/>
              <a:chExt cx="2314163" cy="75895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DB5C457-81D1-1D8C-02D1-7C4E39E1096D}"/>
                  </a:ext>
                </a:extLst>
              </p:cNvPr>
              <p:cNvGrpSpPr/>
              <p:nvPr/>
            </p:nvGrpSpPr>
            <p:grpSpPr>
              <a:xfrm>
                <a:off x="9945037" y="3697353"/>
                <a:ext cx="1739527" cy="758952"/>
                <a:chOff x="9148978" y="2767860"/>
                <a:chExt cx="1739527" cy="758952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9111C188-C93C-D9BF-10FC-F5AC7B3F9055}"/>
                    </a:ext>
                  </a:extLst>
                </p:cNvPr>
                <p:cNvSpPr/>
                <p:nvPr/>
              </p:nvSpPr>
              <p:spPr>
                <a:xfrm>
                  <a:off x="9148978" y="2767860"/>
                  <a:ext cx="1739527" cy="758952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419A7B0-3AFC-9046-AF23-B15D2B7C51B9}"/>
                    </a:ext>
                  </a:extLst>
                </p:cNvPr>
                <p:cNvSpPr txBox="1"/>
                <p:nvPr/>
              </p:nvSpPr>
              <p:spPr>
                <a:xfrm>
                  <a:off x="9234854" y="3149929"/>
                  <a:ext cx="699972" cy="335757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he-IL" dirty="0"/>
                    <a:t>3</a:t>
                  </a:r>
                  <a:r>
                    <a:rPr lang="en-US" dirty="0"/>
                    <a:t>0</a:t>
                  </a:r>
                  <a:endParaRPr lang="en-IL" dirty="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76F0D72-4F6F-AB3C-90F6-5631072027E2}"/>
                    </a:ext>
                  </a:extLst>
                </p:cNvPr>
                <p:cNvSpPr txBox="1"/>
                <p:nvPr/>
              </p:nvSpPr>
              <p:spPr>
                <a:xfrm>
                  <a:off x="10085741" y="3147699"/>
                  <a:ext cx="699972" cy="344433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next</a:t>
                  </a:r>
                  <a:endParaRPr lang="en-IL" dirty="0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F56B6FB-3718-21CD-5FFD-13B2F7F4B33C}"/>
                    </a:ext>
                  </a:extLst>
                </p:cNvPr>
                <p:cNvSpPr txBox="1"/>
                <p:nvPr/>
              </p:nvSpPr>
              <p:spPr>
                <a:xfrm>
                  <a:off x="9706230" y="2787018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887169A-F14B-F549-2EBE-629EF44998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098646" y="3953197"/>
                <a:ext cx="0" cy="29077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0010CD0-521E-8B30-0D4A-16C7C7B7EB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74008" y="3999282"/>
                <a:ext cx="0" cy="1986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199634B-F415-B3EF-FD32-82708EBA54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59200" y="4042530"/>
                <a:ext cx="0" cy="11210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5DF6FB3-F860-4471-9F16-1890BF294F4D}"/>
                  </a:ext>
                </a:extLst>
              </p:cNvPr>
              <p:cNvCxnSpPr>
                <a:cxnSpLocks/>
                <a:stCxn id="21" idx="3"/>
              </p:cNvCxnSpPr>
              <p:nvPr/>
            </p:nvCxnSpPr>
            <p:spPr>
              <a:xfrm flipV="1">
                <a:off x="11581772" y="4098583"/>
                <a:ext cx="475691" cy="1508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C5591B2A-0A5E-0966-BDB7-767D5E617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13" y="1559950"/>
            <a:ext cx="3873432" cy="3023995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9369B0DF-0036-AE67-7466-214C91D03B1C}"/>
              </a:ext>
            </a:extLst>
          </p:cNvPr>
          <p:cNvGrpSpPr/>
          <p:nvPr/>
        </p:nvGrpSpPr>
        <p:grpSpPr>
          <a:xfrm>
            <a:off x="5439592" y="1797037"/>
            <a:ext cx="5222617" cy="1502747"/>
            <a:chOff x="4892813" y="1486334"/>
            <a:chExt cx="5222617" cy="1502747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F02174B-F19F-99FF-5CD8-4806DAEDB32A}"/>
                </a:ext>
              </a:extLst>
            </p:cNvPr>
            <p:cNvGrpSpPr/>
            <p:nvPr/>
          </p:nvGrpSpPr>
          <p:grpSpPr>
            <a:xfrm>
              <a:off x="5816391" y="2230070"/>
              <a:ext cx="4299039" cy="759011"/>
              <a:chOff x="6858133" y="5061100"/>
              <a:chExt cx="4299039" cy="759011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16EE554-4B4B-7937-99BB-1BE9C13A20C9}"/>
                  </a:ext>
                </a:extLst>
              </p:cNvPr>
              <p:cNvGrpSpPr/>
              <p:nvPr/>
            </p:nvGrpSpPr>
            <p:grpSpPr>
              <a:xfrm>
                <a:off x="6858133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5E4F5598-B196-891C-99BC-24DAC17295F5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2F09EC0B-8D3D-2998-D232-128504000281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0B884188-5576-7E37-C76D-14D6A5826304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10</a:t>
                    </a:r>
                    <a:endParaRPr lang="en-IL" dirty="0"/>
                  </a:p>
                </p:txBody>
              </p:sp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A88153A4-14C6-00CE-40C8-11A3405B83C9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88548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E7222DB-7290-7613-C044-9C16CB7586A8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DC43E11D-100B-1B01-1655-131C8FBEE2B0}"/>
                  </a:ext>
                </a:extLst>
              </p:cNvPr>
              <p:cNvGrpSpPr/>
              <p:nvPr/>
            </p:nvGrpSpPr>
            <p:grpSpPr>
              <a:xfrm>
                <a:off x="8870396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4F93F10E-4FAA-75D5-6C2B-F0B3DC69F1E5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95CB6160-FA09-D7D5-978C-2ABE78993EB7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4CFE76E5-FA8C-2F87-B56E-57CB95CFC994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20</a:t>
                    </a:r>
                    <a:endParaRPr lang="en-IL" dirty="0"/>
                  </a:p>
                </p:txBody>
              </p:sp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5802B8E3-9779-6921-535B-0B14F821B7FC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88548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BC48D8E-44C8-66E7-1BFC-9CB9D09D9FC6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745F31D3-D58B-FD0C-439A-31826EBE3930}"/>
                  </a:ext>
                </a:extLst>
              </p:cNvPr>
              <p:cNvCxnSpPr>
                <a:cxnSpLocks/>
                <a:stCxn id="69" idx="3"/>
                <a:endCxn id="62" idx="1"/>
              </p:cNvCxnSpPr>
              <p:nvPr/>
            </p:nvCxnSpPr>
            <p:spPr>
              <a:xfrm flipV="1">
                <a:off x="8494700" y="5440635"/>
                <a:ext cx="375696" cy="17221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46CEE93-DA9F-5D5D-2A60-2106DCF516F3}"/>
                  </a:ext>
                </a:extLst>
              </p:cNvPr>
              <p:cNvGrpSpPr/>
              <p:nvPr/>
            </p:nvGrpSpPr>
            <p:grpSpPr>
              <a:xfrm>
                <a:off x="11007818" y="5458511"/>
                <a:ext cx="149354" cy="290772"/>
                <a:chOff x="10298162" y="4547661"/>
                <a:chExt cx="149354" cy="363464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FE68929-330B-6948-7EE0-33E01742DA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98162" y="4547661"/>
                  <a:ext cx="0" cy="36346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6599F34B-2A9F-1051-BF17-1D3BCC577E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68268" y="4605218"/>
                  <a:ext cx="0" cy="24824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BE2519BA-8486-BF42-8345-73433BE1CF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47516" y="4659278"/>
                  <a:ext cx="0" cy="14013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C241746E-2014-40B8-20C7-F4E12F5F88F0}"/>
                  </a:ext>
                </a:extLst>
              </p:cNvPr>
              <p:cNvCxnSpPr>
                <a:cxnSpLocks/>
                <a:stCxn id="64" idx="3"/>
              </p:cNvCxnSpPr>
              <p:nvPr/>
            </p:nvCxnSpPr>
            <p:spPr>
              <a:xfrm flipV="1">
                <a:off x="10506963" y="5600118"/>
                <a:ext cx="472858" cy="1273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0554E3-2AB2-8C87-ABFE-9267F3EDFA35}"/>
                </a:ext>
              </a:extLst>
            </p:cNvPr>
            <p:cNvSpPr txBox="1"/>
            <p:nvPr/>
          </p:nvSpPr>
          <p:spPr>
            <a:xfrm>
              <a:off x="4892813" y="1486334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head</a:t>
              </a:r>
              <a:endParaRPr lang="en-IL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B2A86B0-7494-0DD3-3E0C-2DB29D191205}"/>
                </a:ext>
              </a:extLst>
            </p:cNvPr>
            <p:cNvCxnSpPr>
              <a:cxnSpLocks/>
              <a:stCxn id="48" idx="2"/>
              <a:endCxn id="67" idx="1"/>
            </p:cNvCxnSpPr>
            <p:nvPr/>
          </p:nvCxnSpPr>
          <p:spPr>
            <a:xfrm>
              <a:off x="5257814" y="1855666"/>
              <a:ext cx="558577" cy="7539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F34B56A-9FFA-17FE-6D0B-6DE37E179880}"/>
                </a:ext>
              </a:extLst>
            </p:cNvPr>
            <p:cNvSpPr txBox="1"/>
            <p:nvPr/>
          </p:nvSpPr>
          <p:spPr>
            <a:xfrm>
              <a:off x="8371670" y="1486334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</a:t>
              </a:r>
              <a:endParaRPr lang="en-IL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6640FBC-935C-736B-390A-390C8C814AEC}"/>
                </a:ext>
              </a:extLst>
            </p:cNvPr>
            <p:cNvCxnSpPr>
              <a:cxnSpLocks/>
              <a:stCxn id="50" idx="2"/>
              <a:endCxn id="61" idx="0"/>
            </p:cNvCxnSpPr>
            <p:nvPr/>
          </p:nvCxnSpPr>
          <p:spPr>
            <a:xfrm flipH="1">
              <a:off x="8735724" y="1855666"/>
              <a:ext cx="947" cy="3744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219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מה תדפיס התוכנית הבאה ?</a:t>
            </a:r>
          </a:p>
        </p:txBody>
      </p:sp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64705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1E13B2-0CD8-DD86-AAFE-0D5316F9B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08947"/>
            <a:ext cx="5525271" cy="310558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4C822EF-B3EB-C7A5-2655-FA53FDC1B591}"/>
              </a:ext>
            </a:extLst>
          </p:cNvPr>
          <p:cNvGrpSpPr/>
          <p:nvPr/>
        </p:nvGrpSpPr>
        <p:grpSpPr>
          <a:xfrm>
            <a:off x="2372005" y="4387723"/>
            <a:ext cx="7758824" cy="1460056"/>
            <a:chOff x="4493139" y="3471691"/>
            <a:chExt cx="7758824" cy="14600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84E5025-A97C-BD0B-6510-1A9052310124}"/>
                </a:ext>
              </a:extLst>
            </p:cNvPr>
            <p:cNvGrpSpPr/>
            <p:nvPr/>
          </p:nvGrpSpPr>
          <p:grpSpPr>
            <a:xfrm>
              <a:off x="5811987" y="4172736"/>
              <a:ext cx="4121688" cy="759011"/>
              <a:chOff x="6858133" y="5061100"/>
              <a:chExt cx="4121688" cy="759011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77CF331-038E-AD29-FE99-DC05A8D17698}"/>
                  </a:ext>
                </a:extLst>
              </p:cNvPr>
              <p:cNvGrpSpPr/>
              <p:nvPr/>
            </p:nvGrpSpPr>
            <p:grpSpPr>
              <a:xfrm>
                <a:off x="6858133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FD7915E2-12BC-3245-5207-547F36E27B58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8053A339-C523-B5B3-FECE-1F89325DE5D2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60864453-9D4E-7486-D743-6B7B3EF23A77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10</a:t>
                    </a:r>
                    <a:endParaRPr lang="en-IL" dirty="0"/>
                  </a:p>
                </p:txBody>
              </p: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4D50D545-61AC-9194-002F-AF7344822521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98656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F8D614A-2A0E-0EB4-5BDB-91A60B2EA0D9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82A38AC-18C6-8646-0326-E53B33774071}"/>
                  </a:ext>
                </a:extLst>
              </p:cNvPr>
              <p:cNvGrpSpPr/>
              <p:nvPr/>
            </p:nvGrpSpPr>
            <p:grpSpPr>
              <a:xfrm>
                <a:off x="8870396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5ABA4E43-9D0C-9CCB-25CD-758D21C5C125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783F1A0F-1402-A8F1-B289-FAE9691BFC10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BBC46643-4263-0105-FB34-9A8BB37F1ACB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20</a:t>
                    </a:r>
                    <a:endParaRPr lang="en-IL" dirty="0"/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F03A11B9-B018-EE75-21FC-083606E87625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98656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D18C5E0-21E7-B3BA-464E-413FF0D761EC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BF3B11B0-959A-90A3-0029-4808A3147145}"/>
                  </a:ext>
                </a:extLst>
              </p:cNvPr>
              <p:cNvCxnSpPr>
                <a:cxnSpLocks/>
                <a:stCxn id="36" idx="3"/>
                <a:endCxn id="29" idx="1"/>
              </p:cNvCxnSpPr>
              <p:nvPr/>
            </p:nvCxnSpPr>
            <p:spPr>
              <a:xfrm flipV="1">
                <a:off x="8494700" y="5440635"/>
                <a:ext cx="375696" cy="1816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5A6E27DC-E883-3134-A4D7-61BC80C2BA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04130" y="5430432"/>
                <a:ext cx="475691" cy="1897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EE0DD5-7E8D-68E5-A956-6E9FBF2817BA}"/>
                </a:ext>
              </a:extLst>
            </p:cNvPr>
            <p:cNvSpPr txBox="1"/>
            <p:nvPr/>
          </p:nvSpPr>
          <p:spPr>
            <a:xfrm>
              <a:off x="4493139" y="4384498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head</a:t>
              </a:r>
              <a:endParaRPr lang="en-IL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B71596F-8348-7451-05D7-AD4C5F3BDD38}"/>
                </a:ext>
              </a:extLst>
            </p:cNvPr>
            <p:cNvCxnSpPr>
              <a:cxnSpLocks/>
              <a:stCxn id="9" idx="3"/>
              <a:endCxn id="34" idx="1"/>
            </p:cNvCxnSpPr>
            <p:nvPr/>
          </p:nvCxnSpPr>
          <p:spPr>
            <a:xfrm flipV="1">
              <a:off x="5223141" y="4552271"/>
              <a:ext cx="588846" cy="168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8CD867B-0436-E71D-07A8-C10C1184ADA9}"/>
                </a:ext>
              </a:extLst>
            </p:cNvPr>
            <p:cNvSpPr txBox="1"/>
            <p:nvPr/>
          </p:nvSpPr>
          <p:spPr>
            <a:xfrm>
              <a:off x="10799157" y="3471691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</a:t>
              </a:r>
              <a:endParaRPr lang="en-IL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A15F7AD-31FE-9F93-F72A-6F6ACBEEE38E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11164158" y="3841023"/>
              <a:ext cx="5871" cy="3317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C3FFEC-BAA1-6FFE-B585-1809A969B6C2}"/>
                </a:ext>
              </a:extLst>
            </p:cNvPr>
            <p:cNvGrpSpPr/>
            <p:nvPr/>
          </p:nvGrpSpPr>
          <p:grpSpPr>
            <a:xfrm>
              <a:off x="9937800" y="4167934"/>
              <a:ext cx="2314163" cy="758952"/>
              <a:chOff x="9945037" y="3697353"/>
              <a:chExt cx="2314163" cy="75895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A0D43E6-31C5-E57B-B513-FE06366C3746}"/>
                  </a:ext>
                </a:extLst>
              </p:cNvPr>
              <p:cNvGrpSpPr/>
              <p:nvPr/>
            </p:nvGrpSpPr>
            <p:grpSpPr>
              <a:xfrm>
                <a:off x="9945037" y="3697353"/>
                <a:ext cx="1739527" cy="758952"/>
                <a:chOff x="9148978" y="2767860"/>
                <a:chExt cx="1739527" cy="758952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69F8BF0B-F376-796B-163E-C27081AF0BE1}"/>
                    </a:ext>
                  </a:extLst>
                </p:cNvPr>
                <p:cNvSpPr/>
                <p:nvPr/>
              </p:nvSpPr>
              <p:spPr>
                <a:xfrm>
                  <a:off x="9148978" y="2767860"/>
                  <a:ext cx="1739527" cy="758952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04DA9B0-C210-3267-6338-F8D778600D00}"/>
                    </a:ext>
                  </a:extLst>
                </p:cNvPr>
                <p:cNvSpPr txBox="1"/>
                <p:nvPr/>
              </p:nvSpPr>
              <p:spPr>
                <a:xfrm>
                  <a:off x="9234854" y="3149929"/>
                  <a:ext cx="699972" cy="335757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he-IL" dirty="0"/>
                    <a:t>3</a:t>
                  </a:r>
                  <a:r>
                    <a:rPr lang="en-US" dirty="0"/>
                    <a:t>0</a:t>
                  </a:r>
                  <a:endParaRPr lang="en-IL" dirty="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55C8E28-AC50-F9E5-9FAA-C736229ACC66}"/>
                    </a:ext>
                  </a:extLst>
                </p:cNvPr>
                <p:cNvSpPr txBox="1"/>
                <p:nvPr/>
              </p:nvSpPr>
              <p:spPr>
                <a:xfrm>
                  <a:off x="10085741" y="3147699"/>
                  <a:ext cx="699972" cy="344433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next</a:t>
                  </a:r>
                  <a:endParaRPr lang="en-IL" dirty="0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9FFD807-7586-9F4F-C4FF-51CC04B149F3}"/>
                    </a:ext>
                  </a:extLst>
                </p:cNvPr>
                <p:cNvSpPr txBox="1"/>
                <p:nvPr/>
              </p:nvSpPr>
              <p:spPr>
                <a:xfrm>
                  <a:off x="9706230" y="2787018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B5F75CA-85C9-821C-6501-8442CE103C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098646" y="3953197"/>
                <a:ext cx="0" cy="29077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3A8E027-8793-1A24-5FD8-59629F80AD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74008" y="3999282"/>
                <a:ext cx="0" cy="1986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D6B1A54-4D1E-47D7-7556-46D438CE98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59200" y="4042530"/>
                <a:ext cx="0" cy="11210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30AA5559-0292-CB8C-2777-DC9C3B0627F0}"/>
                  </a:ext>
                </a:extLst>
              </p:cNvPr>
              <p:cNvCxnSpPr>
                <a:cxnSpLocks/>
                <a:stCxn id="21" idx="3"/>
              </p:cNvCxnSpPr>
              <p:nvPr/>
            </p:nvCxnSpPr>
            <p:spPr>
              <a:xfrm flipV="1">
                <a:off x="11581772" y="4098583"/>
                <a:ext cx="475691" cy="1508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2B67EF1F-BDFB-96B7-7AAD-7BABA32BF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911" y="2166738"/>
            <a:ext cx="4083748" cy="133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6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כיצד נוסיף חוליה 25 למקומה ?</a:t>
            </a:r>
          </a:p>
        </p:txBody>
      </p:sp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64705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C8A514A-905E-C6B8-6FF9-C9AE4595E7FE}"/>
              </a:ext>
            </a:extLst>
          </p:cNvPr>
          <p:cNvGrpSpPr/>
          <p:nvPr/>
        </p:nvGrpSpPr>
        <p:grpSpPr>
          <a:xfrm>
            <a:off x="3697885" y="481877"/>
            <a:ext cx="7758824" cy="1460056"/>
            <a:chOff x="4493139" y="3471691"/>
            <a:chExt cx="7758824" cy="146005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62506DC-2625-255F-8F6F-64DBFF640FC1}"/>
                </a:ext>
              </a:extLst>
            </p:cNvPr>
            <p:cNvGrpSpPr/>
            <p:nvPr/>
          </p:nvGrpSpPr>
          <p:grpSpPr>
            <a:xfrm>
              <a:off x="5811987" y="4172736"/>
              <a:ext cx="4121688" cy="759011"/>
              <a:chOff x="6858133" y="5061100"/>
              <a:chExt cx="4121688" cy="759011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ECA96407-6285-3156-6C34-007B7291EA0E}"/>
                  </a:ext>
                </a:extLst>
              </p:cNvPr>
              <p:cNvGrpSpPr/>
              <p:nvPr/>
            </p:nvGrpSpPr>
            <p:grpSpPr>
              <a:xfrm>
                <a:off x="6858133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E1E90900-FE9C-8C12-1149-D3E71286B728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921ACF55-82B2-7F60-26C6-D190C0E14BED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5BB94F28-9C6F-1B45-0A29-1285EE74C7D5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10</a:t>
                    </a:r>
                    <a:endParaRPr lang="en-IL" dirty="0"/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99CDC0EF-459B-17B2-8C31-A842A3F7A8F1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98656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4490E4D-2024-F65A-E81B-6E20119F9973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70CCE3F-BD8E-EE87-A3A6-4AFA7AD55B29}"/>
                  </a:ext>
                </a:extLst>
              </p:cNvPr>
              <p:cNvGrpSpPr/>
              <p:nvPr/>
            </p:nvGrpSpPr>
            <p:grpSpPr>
              <a:xfrm>
                <a:off x="8870396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5AE321C1-5A0D-FF02-70FF-AF132684AD49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32E4C493-627A-7087-907F-BDFF3AFC730F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051569B-C0B1-D556-0261-E6B9B7A970AF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20</a:t>
                    </a:r>
                    <a:endParaRPr lang="en-IL" dirty="0"/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B867291-12E4-A56B-52F5-7FF0AB200D6D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98656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BD8FE95-7E2C-28AB-6CA7-4E2A57A3C935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B2E0A57-EA1C-F71F-02B5-21DC6BB98175}"/>
                  </a:ext>
                </a:extLst>
              </p:cNvPr>
              <p:cNvCxnSpPr>
                <a:cxnSpLocks/>
                <a:stCxn id="34" idx="3"/>
                <a:endCxn id="27" idx="1"/>
              </p:cNvCxnSpPr>
              <p:nvPr/>
            </p:nvCxnSpPr>
            <p:spPr>
              <a:xfrm flipV="1">
                <a:off x="8494700" y="5440635"/>
                <a:ext cx="375696" cy="1816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E7908BE1-F95F-829B-BD63-4E10E59FC7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04130" y="5430432"/>
                <a:ext cx="475691" cy="1897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657B95-0D30-85E9-30E6-06BF81B258D4}"/>
                </a:ext>
              </a:extLst>
            </p:cNvPr>
            <p:cNvSpPr txBox="1"/>
            <p:nvPr/>
          </p:nvSpPr>
          <p:spPr>
            <a:xfrm>
              <a:off x="4493139" y="4384498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head</a:t>
              </a:r>
              <a:endParaRPr lang="en-IL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07BAE3E-7A49-4D1B-9D67-F07A583FE801}"/>
                </a:ext>
              </a:extLst>
            </p:cNvPr>
            <p:cNvCxnSpPr>
              <a:cxnSpLocks/>
              <a:stCxn id="6" idx="3"/>
              <a:endCxn id="32" idx="1"/>
            </p:cNvCxnSpPr>
            <p:nvPr/>
          </p:nvCxnSpPr>
          <p:spPr>
            <a:xfrm flipV="1">
              <a:off x="5223141" y="4552271"/>
              <a:ext cx="588846" cy="168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37E6A2-CB15-08F4-F998-3F4E697A3817}"/>
                </a:ext>
              </a:extLst>
            </p:cNvPr>
            <p:cNvSpPr txBox="1"/>
            <p:nvPr/>
          </p:nvSpPr>
          <p:spPr>
            <a:xfrm>
              <a:off x="10799157" y="3471691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</a:t>
              </a:r>
              <a:endParaRPr lang="en-IL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00A98DF-19A9-F9D7-384B-4AA4CC0C7051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11164158" y="3841023"/>
              <a:ext cx="5871" cy="3317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56C719D-C4A6-ABA2-8C7E-56D4496F121E}"/>
                </a:ext>
              </a:extLst>
            </p:cNvPr>
            <p:cNvGrpSpPr/>
            <p:nvPr/>
          </p:nvGrpSpPr>
          <p:grpSpPr>
            <a:xfrm>
              <a:off x="9937800" y="4167934"/>
              <a:ext cx="2314163" cy="758952"/>
              <a:chOff x="9945037" y="3697353"/>
              <a:chExt cx="2314163" cy="758952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F01DDE4-C4BE-F32B-FE49-9A5B38B48AA9}"/>
                  </a:ext>
                </a:extLst>
              </p:cNvPr>
              <p:cNvGrpSpPr/>
              <p:nvPr/>
            </p:nvGrpSpPr>
            <p:grpSpPr>
              <a:xfrm>
                <a:off x="9945037" y="3697353"/>
                <a:ext cx="1739527" cy="758952"/>
                <a:chOff x="9148978" y="2767860"/>
                <a:chExt cx="1739527" cy="758952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7CF5F4EE-4E7E-5BB0-0621-EEC540A5EC34}"/>
                    </a:ext>
                  </a:extLst>
                </p:cNvPr>
                <p:cNvSpPr/>
                <p:nvPr/>
              </p:nvSpPr>
              <p:spPr>
                <a:xfrm>
                  <a:off x="9148978" y="2767860"/>
                  <a:ext cx="1739527" cy="758952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BA8083F-0738-19B0-31A5-63772148AA60}"/>
                    </a:ext>
                  </a:extLst>
                </p:cNvPr>
                <p:cNvSpPr txBox="1"/>
                <p:nvPr/>
              </p:nvSpPr>
              <p:spPr>
                <a:xfrm>
                  <a:off x="9234854" y="3149929"/>
                  <a:ext cx="699972" cy="335757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he-IL" dirty="0"/>
                    <a:t>3</a:t>
                  </a:r>
                  <a:r>
                    <a:rPr lang="en-US" dirty="0"/>
                    <a:t>0</a:t>
                  </a:r>
                  <a:endParaRPr lang="en-IL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7837CBE-4C2A-67BC-F329-6E98A47F279F}"/>
                    </a:ext>
                  </a:extLst>
                </p:cNvPr>
                <p:cNvSpPr txBox="1"/>
                <p:nvPr/>
              </p:nvSpPr>
              <p:spPr>
                <a:xfrm>
                  <a:off x="10085741" y="3147699"/>
                  <a:ext cx="699972" cy="344433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next</a:t>
                  </a:r>
                  <a:endParaRPr lang="en-IL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6C22E0A-9368-9CAD-7457-8273A2820924}"/>
                    </a:ext>
                  </a:extLst>
                </p:cNvPr>
                <p:cNvSpPr txBox="1"/>
                <p:nvPr/>
              </p:nvSpPr>
              <p:spPr>
                <a:xfrm>
                  <a:off x="9706230" y="2787018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46B9F43-06C5-4B5A-DE17-77BD47AA92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098646" y="3953197"/>
                <a:ext cx="0" cy="29077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DDE1A67-F1DF-EF9A-4383-94D672E77F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74008" y="3999282"/>
                <a:ext cx="0" cy="1986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1C35F5B-BE57-C795-FC5B-CE861972F4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59200" y="4042530"/>
                <a:ext cx="0" cy="11210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3B9F166-4298-1048-C71F-149EB2EC0B6C}"/>
                  </a:ext>
                </a:extLst>
              </p:cNvPr>
              <p:cNvCxnSpPr>
                <a:cxnSpLocks/>
                <a:stCxn id="19" idx="3"/>
              </p:cNvCxnSpPr>
              <p:nvPr/>
            </p:nvCxnSpPr>
            <p:spPr>
              <a:xfrm flipV="1">
                <a:off x="11581772" y="4098583"/>
                <a:ext cx="475691" cy="1508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03DD75A-A3A7-6B04-3318-0C0AF1FC6F8C}"/>
              </a:ext>
            </a:extLst>
          </p:cNvPr>
          <p:cNvGrpSpPr/>
          <p:nvPr/>
        </p:nvGrpSpPr>
        <p:grpSpPr>
          <a:xfrm>
            <a:off x="1722781" y="3419875"/>
            <a:ext cx="9733928" cy="1480811"/>
            <a:chOff x="1573015" y="3613174"/>
            <a:chExt cx="9733928" cy="148081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F55BF5E-B7C8-3C3F-4AC9-C25B4850267F}"/>
                </a:ext>
              </a:extLst>
            </p:cNvPr>
            <p:cNvGrpSpPr/>
            <p:nvPr/>
          </p:nvGrpSpPr>
          <p:grpSpPr>
            <a:xfrm>
              <a:off x="1573015" y="3633929"/>
              <a:ext cx="9733928" cy="1460056"/>
              <a:chOff x="4493139" y="3471691"/>
              <a:chExt cx="9733928" cy="146005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F18C12A7-5399-B22B-AAE2-417DE2C3471F}"/>
                  </a:ext>
                </a:extLst>
              </p:cNvPr>
              <p:cNvGrpSpPr/>
              <p:nvPr/>
            </p:nvGrpSpPr>
            <p:grpSpPr>
              <a:xfrm>
                <a:off x="5811987" y="4172736"/>
                <a:ext cx="3995815" cy="759011"/>
                <a:chOff x="6858133" y="5061100"/>
                <a:chExt cx="3995815" cy="759011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1508DC0E-F6DE-3F08-455E-B3557653BA67}"/>
                    </a:ext>
                  </a:extLst>
                </p:cNvPr>
                <p:cNvGrpSpPr/>
                <p:nvPr/>
              </p:nvGrpSpPr>
              <p:grpSpPr>
                <a:xfrm>
                  <a:off x="6858133" y="5061100"/>
                  <a:ext cx="1739527" cy="759011"/>
                  <a:chOff x="647057" y="3428941"/>
                  <a:chExt cx="1739527" cy="759011"/>
                </a:xfrm>
              </p:grpSpPr>
              <p:grpSp>
                <p:nvGrpSpPr>
                  <p:cNvPr id="62" name="Group 61">
                    <a:extLst>
                      <a:ext uri="{FF2B5EF4-FFF2-40B4-BE49-F238E27FC236}">
                        <a16:creationId xmlns:a16="http://schemas.microsoft.com/office/drawing/2014/main" id="{3A52B0A1-0FB8-3F26-241F-2B9F31252CF4}"/>
                      </a:ext>
                    </a:extLst>
                  </p:cNvPr>
                  <p:cNvGrpSpPr/>
                  <p:nvPr/>
                </p:nvGrpSpPr>
                <p:grpSpPr>
                  <a:xfrm>
                    <a:off x="647057" y="3429000"/>
                    <a:ext cx="1739527" cy="758952"/>
                    <a:chOff x="647057" y="3781640"/>
                    <a:chExt cx="1931550" cy="813816"/>
                  </a:xfrm>
                </p:grpSpPr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86EE4915-B7A5-59A2-24F6-4C4CD2BC9D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057" y="3781640"/>
                      <a:ext cx="1931550" cy="813816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/>
                    </a:p>
                  </p:txBody>
                </p:sp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F0993DF7-5E9F-7EB2-D2DA-FF5C47624F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2226" y="4183046"/>
                      <a:ext cx="777241" cy="396031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 rtl="0"/>
                      <a:r>
                        <a:rPr lang="en-US" dirty="0"/>
                        <a:t>10</a:t>
                      </a:r>
                      <a:endParaRPr lang="en-IL" dirty="0"/>
                    </a:p>
                  </p:txBody>
                </p:sp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24C4A1C4-84DD-F855-65EB-687D46343A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7041" y="4198656"/>
                      <a:ext cx="777241" cy="369332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 rtl="0"/>
                      <a:r>
                        <a:rPr lang="en-US" dirty="0"/>
                        <a:t>next</a:t>
                      </a:r>
                      <a:endParaRPr lang="en-IL" dirty="0"/>
                    </a:p>
                  </p:txBody>
                </p:sp>
              </p:grp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9EFEF8B7-3BF3-3B73-D256-BFF061E4F423}"/>
                      </a:ext>
                    </a:extLst>
                  </p:cNvPr>
                  <p:cNvSpPr txBox="1"/>
                  <p:nvPr/>
                </p:nvSpPr>
                <p:spPr>
                  <a:xfrm>
                    <a:off x="1204141" y="3428941"/>
                    <a:ext cx="6999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node</a:t>
                    </a:r>
                    <a:endParaRPr lang="en-IL" dirty="0"/>
                  </a:p>
                </p:txBody>
              </p:sp>
            </p:grp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25A452DF-9F43-B78B-997F-B665DA4DB8DE}"/>
                    </a:ext>
                  </a:extLst>
                </p:cNvPr>
                <p:cNvGrpSpPr/>
                <p:nvPr/>
              </p:nvGrpSpPr>
              <p:grpSpPr>
                <a:xfrm>
                  <a:off x="8870396" y="5061100"/>
                  <a:ext cx="1739527" cy="759011"/>
                  <a:chOff x="647057" y="3428941"/>
                  <a:chExt cx="1739527" cy="759011"/>
                </a:xfrm>
              </p:grpSpPr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BB7BCACE-B917-CB20-4171-4B9FE8CFC185}"/>
                      </a:ext>
                    </a:extLst>
                  </p:cNvPr>
                  <p:cNvGrpSpPr/>
                  <p:nvPr/>
                </p:nvGrpSpPr>
                <p:grpSpPr>
                  <a:xfrm>
                    <a:off x="647057" y="3429000"/>
                    <a:ext cx="1739527" cy="758952"/>
                    <a:chOff x="647057" y="3781640"/>
                    <a:chExt cx="1931550" cy="813816"/>
                  </a:xfrm>
                </p:grpSpPr>
                <p:sp>
                  <p:nvSpPr>
                    <p:cNvPr id="59" name="Rectangle 58">
                      <a:extLst>
                        <a:ext uri="{FF2B5EF4-FFF2-40B4-BE49-F238E27FC236}">
                          <a16:creationId xmlns:a16="http://schemas.microsoft.com/office/drawing/2014/main" id="{8AF8E501-44F0-2E25-030E-25F04C8D32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057" y="3781640"/>
                      <a:ext cx="1931550" cy="813816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/>
                    </a:p>
                  </p:txBody>
                </p:sp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2CEFF15E-9740-56CD-019F-14457448A5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2226" y="4183046"/>
                      <a:ext cx="777241" cy="396031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 rtl="0"/>
                      <a:r>
                        <a:rPr lang="en-US" dirty="0"/>
                        <a:t>20</a:t>
                      </a:r>
                      <a:endParaRPr lang="en-IL" dirty="0"/>
                    </a:p>
                  </p:txBody>
                </p:sp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0D937AF0-7BEB-9D98-F6A4-BAFA50993A8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7041" y="4198656"/>
                      <a:ext cx="777241" cy="369332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 rtl="0"/>
                      <a:r>
                        <a:rPr lang="en-US" dirty="0"/>
                        <a:t>next</a:t>
                      </a:r>
                      <a:endParaRPr lang="en-IL" dirty="0"/>
                    </a:p>
                  </p:txBody>
                </p:sp>
              </p:grpSp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0A58144D-AA7B-3B26-5ADF-9F1E72F41B03}"/>
                      </a:ext>
                    </a:extLst>
                  </p:cNvPr>
                  <p:cNvSpPr txBox="1"/>
                  <p:nvPr/>
                </p:nvSpPr>
                <p:spPr>
                  <a:xfrm>
                    <a:off x="1204141" y="3428941"/>
                    <a:ext cx="6999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node</a:t>
                    </a:r>
                    <a:endParaRPr lang="en-IL" dirty="0"/>
                  </a:p>
                </p:txBody>
              </p:sp>
            </p:grp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55B4BD96-933E-08FC-3A28-400B9E38FB69}"/>
                    </a:ext>
                  </a:extLst>
                </p:cNvPr>
                <p:cNvCxnSpPr>
                  <a:cxnSpLocks/>
                  <a:stCxn id="66" idx="3"/>
                  <a:endCxn id="59" idx="1"/>
                </p:cNvCxnSpPr>
                <p:nvPr/>
              </p:nvCxnSpPr>
              <p:spPr>
                <a:xfrm flipV="1">
                  <a:off x="8494700" y="5440635"/>
                  <a:ext cx="375696" cy="18164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E541F4AB-6DCB-ACF7-2114-DF1BBF15A5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04130" y="5457528"/>
                  <a:ext cx="349818" cy="162642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1936BDD-CBF9-1CAA-6B45-FCE45131F8BB}"/>
                  </a:ext>
                </a:extLst>
              </p:cNvPr>
              <p:cNvSpPr txBox="1"/>
              <p:nvPr/>
            </p:nvSpPr>
            <p:spPr>
              <a:xfrm>
                <a:off x="4493139" y="4384498"/>
                <a:ext cx="730002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head</a:t>
                </a:r>
                <a:endParaRPr lang="en-IL" dirty="0"/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627F1054-E112-D29D-7A3E-92B135F8B942}"/>
                  </a:ext>
                </a:extLst>
              </p:cNvPr>
              <p:cNvCxnSpPr>
                <a:cxnSpLocks/>
                <a:stCxn id="39" idx="3"/>
                <a:endCxn id="64" idx="1"/>
              </p:cNvCxnSpPr>
              <p:nvPr/>
            </p:nvCxnSpPr>
            <p:spPr>
              <a:xfrm flipV="1">
                <a:off x="5223141" y="4552271"/>
                <a:ext cx="588846" cy="1689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8666C8D-7286-E94E-B0E6-7CCB18A3012B}"/>
                  </a:ext>
                </a:extLst>
              </p:cNvPr>
              <p:cNvSpPr txBox="1"/>
              <p:nvPr/>
            </p:nvSpPr>
            <p:spPr>
              <a:xfrm>
                <a:off x="12774261" y="3471691"/>
                <a:ext cx="730002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n</a:t>
                </a:r>
                <a:endParaRPr lang="en-IL" dirty="0"/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3EBFF16-6E31-C305-D1E1-86C17B715BCA}"/>
                  </a:ext>
                </a:extLst>
              </p:cNvPr>
              <p:cNvCxnSpPr>
                <a:cxnSpLocks/>
                <a:stCxn id="41" idx="2"/>
              </p:cNvCxnSpPr>
              <p:nvPr/>
            </p:nvCxnSpPr>
            <p:spPr>
              <a:xfrm>
                <a:off x="13139262" y="3841023"/>
                <a:ext cx="5871" cy="33171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D41D7DEA-8292-1461-33FC-CA1AC6D157C2}"/>
                  </a:ext>
                </a:extLst>
              </p:cNvPr>
              <p:cNvGrpSpPr/>
              <p:nvPr/>
            </p:nvGrpSpPr>
            <p:grpSpPr>
              <a:xfrm>
                <a:off x="11912904" y="4167934"/>
                <a:ext cx="2314163" cy="758952"/>
                <a:chOff x="11920141" y="3697353"/>
                <a:chExt cx="2314163" cy="758952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38F3F60-F574-B84E-585D-28B5E0DCAD54}"/>
                    </a:ext>
                  </a:extLst>
                </p:cNvPr>
                <p:cNvGrpSpPr/>
                <p:nvPr/>
              </p:nvGrpSpPr>
              <p:grpSpPr>
                <a:xfrm>
                  <a:off x="11920141" y="3697353"/>
                  <a:ext cx="1739527" cy="758952"/>
                  <a:chOff x="11124082" y="2767860"/>
                  <a:chExt cx="1739527" cy="758952"/>
                </a:xfrm>
              </p:grpSpPr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5EFE74F2-EBE0-5D65-A79B-9F3572BD8FC2}"/>
                      </a:ext>
                    </a:extLst>
                  </p:cNvPr>
                  <p:cNvSpPr/>
                  <p:nvPr/>
                </p:nvSpPr>
                <p:spPr>
                  <a:xfrm>
                    <a:off x="11124082" y="2767860"/>
                    <a:ext cx="1739527" cy="758952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06A38832-B7AD-B2BB-0144-5903AFB7C8FB}"/>
                      </a:ext>
                    </a:extLst>
                  </p:cNvPr>
                  <p:cNvSpPr txBox="1"/>
                  <p:nvPr/>
                </p:nvSpPr>
                <p:spPr>
                  <a:xfrm>
                    <a:off x="11209958" y="3149929"/>
                    <a:ext cx="699972" cy="335757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he-IL" dirty="0"/>
                      <a:t>3</a:t>
                    </a:r>
                    <a:r>
                      <a:rPr lang="en-US" dirty="0"/>
                      <a:t>0</a:t>
                    </a:r>
                    <a:endParaRPr lang="en-IL" dirty="0"/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A9F195E7-8AAA-3012-8DFA-B67E6F7BD928}"/>
                      </a:ext>
                    </a:extLst>
                  </p:cNvPr>
                  <p:cNvSpPr txBox="1"/>
                  <p:nvPr/>
                </p:nvSpPr>
                <p:spPr>
                  <a:xfrm>
                    <a:off x="12060845" y="3147699"/>
                    <a:ext cx="699972" cy="344433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563B62C3-1E70-8AA4-0165-F71A00A3A850}"/>
                      </a:ext>
                    </a:extLst>
                  </p:cNvPr>
                  <p:cNvSpPr txBox="1"/>
                  <p:nvPr/>
                </p:nvSpPr>
                <p:spPr>
                  <a:xfrm>
                    <a:off x="11681334" y="2787018"/>
                    <a:ext cx="6999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node</a:t>
                    </a:r>
                    <a:endParaRPr lang="en-IL" dirty="0"/>
                  </a:p>
                </p:txBody>
              </p:sp>
            </p:grp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2C60303D-DFC2-9C46-6975-EAD223E63F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073750" y="3953197"/>
                  <a:ext cx="0" cy="290773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3C27607F-20C6-735E-E00F-DE537A5BD1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49112" y="3999282"/>
                  <a:ext cx="0" cy="19860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EF8B64D-48A6-5084-CC32-8CFEF2C57A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234304" y="4042530"/>
                  <a:ext cx="0" cy="11210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483C81BE-7295-0891-A2F7-069D47B2F43B}"/>
                    </a:ext>
                  </a:extLst>
                </p:cNvPr>
                <p:cNvCxnSpPr>
                  <a:cxnSpLocks/>
                  <a:stCxn id="51" idx="3"/>
                </p:cNvCxnSpPr>
                <p:nvPr/>
              </p:nvCxnSpPr>
              <p:spPr>
                <a:xfrm flipV="1">
                  <a:off x="13556876" y="4098583"/>
                  <a:ext cx="475691" cy="15082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20BA0C6-F460-0BA8-69AF-10EE1E5B2972}"/>
                </a:ext>
              </a:extLst>
            </p:cNvPr>
            <p:cNvSpPr txBox="1"/>
            <p:nvPr/>
          </p:nvSpPr>
          <p:spPr>
            <a:xfrm>
              <a:off x="7758644" y="3613174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n25</a:t>
              </a:r>
              <a:endParaRPr lang="en-IL" dirty="0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44E02E0B-C5DF-55B9-CF23-3DA14FCB680F}"/>
                </a:ext>
              </a:extLst>
            </p:cNvPr>
            <p:cNvCxnSpPr>
              <a:cxnSpLocks/>
              <a:stCxn id="67" idx="2"/>
            </p:cNvCxnSpPr>
            <p:nvPr/>
          </p:nvCxnSpPr>
          <p:spPr>
            <a:xfrm>
              <a:off x="8123645" y="3982506"/>
              <a:ext cx="5871" cy="3317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20BE4A3-F3EF-A0D0-67B2-D2F009970C01}"/>
                </a:ext>
              </a:extLst>
            </p:cNvPr>
            <p:cNvSpPr/>
            <p:nvPr/>
          </p:nvSpPr>
          <p:spPr>
            <a:xfrm>
              <a:off x="6897287" y="4309417"/>
              <a:ext cx="1739527" cy="75895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6963647-FDF4-FA4D-46CA-E25F00C4BAB8}"/>
                </a:ext>
              </a:extLst>
            </p:cNvPr>
            <p:cNvSpPr txBox="1"/>
            <p:nvPr/>
          </p:nvSpPr>
          <p:spPr>
            <a:xfrm>
              <a:off x="6983163" y="4691486"/>
              <a:ext cx="699972" cy="369332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25</a:t>
              </a:r>
              <a:endParaRPr lang="en-IL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30F1432-225E-F10F-DCA1-43ADD6324EDE}"/>
                </a:ext>
              </a:extLst>
            </p:cNvPr>
            <p:cNvSpPr txBox="1"/>
            <p:nvPr/>
          </p:nvSpPr>
          <p:spPr>
            <a:xfrm>
              <a:off x="7834050" y="4689256"/>
              <a:ext cx="699972" cy="344433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next</a:t>
              </a:r>
              <a:endParaRPr lang="en-IL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32C83D8-AC4F-FF8D-F685-96CF13188EE0}"/>
                </a:ext>
              </a:extLst>
            </p:cNvPr>
            <p:cNvSpPr txBox="1"/>
            <p:nvPr/>
          </p:nvSpPr>
          <p:spPr>
            <a:xfrm>
              <a:off x="7454539" y="4328575"/>
              <a:ext cx="699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node</a:t>
              </a:r>
              <a:endParaRPr lang="en-IL" dirty="0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E8E01A6A-5D57-6DAA-8450-574B8EDE4163}"/>
                </a:ext>
              </a:extLst>
            </p:cNvPr>
            <p:cNvCxnSpPr>
              <a:cxnSpLocks/>
              <a:stCxn id="71" idx="3"/>
            </p:cNvCxnSpPr>
            <p:nvPr/>
          </p:nvCxnSpPr>
          <p:spPr>
            <a:xfrm flipV="1">
              <a:off x="8534022" y="4710647"/>
              <a:ext cx="475691" cy="1508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9" name="Picture 78">
            <a:extLst>
              <a:ext uri="{FF2B5EF4-FFF2-40B4-BE49-F238E27FC236}">
                <a16:creationId xmlns:a16="http://schemas.microsoft.com/office/drawing/2014/main" id="{2863C470-57DB-CA0A-4A1D-059B5F1B4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682" y="5177840"/>
            <a:ext cx="6001588" cy="990738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1F800FAC-6118-3EE3-9CC7-26AFA618F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157" y="5117411"/>
            <a:ext cx="2724530" cy="103837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C9436A2B-847D-C1D4-E5CF-76ED549A6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57" y="2295784"/>
            <a:ext cx="3153215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3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 </a:t>
            </a:r>
            <a:r>
              <a:rPr lang="he-IL" dirty="0"/>
              <a:t>מהי תמונת </a:t>
            </a:r>
            <a:r>
              <a:rPr lang="he-IL" dirty="0" err="1"/>
              <a:t>הזכרון</a:t>
            </a:r>
            <a:r>
              <a:rPr lang="he-IL" dirty="0"/>
              <a:t> של הקוד הבא</a:t>
            </a:r>
            <a:r>
              <a:rPr lang="en-US" dirty="0"/>
              <a:t> ?</a:t>
            </a:r>
            <a:endParaRPr lang="he-IL" dirty="0"/>
          </a:p>
        </p:txBody>
      </p:sp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64705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3D94A573-0442-03A6-ECCC-797486102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0" y="1825625"/>
            <a:ext cx="60960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he-IL" dirty="0"/>
              <a:t>החוליות </a:t>
            </a:r>
            <a:r>
              <a:rPr lang="en-US" dirty="0"/>
              <a:t>n(20), n(30)</a:t>
            </a:r>
            <a:r>
              <a:rPr lang="he-IL" dirty="0"/>
              <a:t> בוטלו כיוון שאין אליהן כל מצביע.</a:t>
            </a:r>
          </a:p>
          <a:p>
            <a:r>
              <a:rPr lang="he-IL" dirty="0"/>
              <a:t>ה </a:t>
            </a:r>
            <a:r>
              <a:rPr lang="en-US" dirty="0"/>
              <a:t>Garbage Collector</a:t>
            </a:r>
            <a:r>
              <a:rPr lang="he-IL" dirty="0"/>
              <a:t> של השפה שחרר את </a:t>
            </a:r>
            <a:r>
              <a:rPr lang="he-IL" dirty="0" err="1"/>
              <a:t>הזכרון</a:t>
            </a:r>
            <a:r>
              <a:rPr lang="he-IL" dirty="0"/>
              <a:t> בהם הם נשמרו, והם אבדו.</a:t>
            </a:r>
            <a:endParaRPr lang="en-IL" dirty="0"/>
          </a:p>
        </p:txBody>
      </p:sp>
      <p:pic>
        <p:nvPicPr>
          <p:cNvPr id="33" name="Content Placeholder 4">
            <a:extLst>
              <a:ext uri="{FF2B5EF4-FFF2-40B4-BE49-F238E27FC236}">
                <a16:creationId xmlns:a16="http://schemas.microsoft.com/office/drawing/2014/main" id="{8FADFEFC-430A-6517-FC77-E6C251074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80" y="2359851"/>
            <a:ext cx="4143512" cy="330942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2B54FA2B-CBFF-03F2-3B44-EE2D63C553B5}"/>
              </a:ext>
            </a:extLst>
          </p:cNvPr>
          <p:cNvGrpSpPr/>
          <p:nvPr/>
        </p:nvGrpSpPr>
        <p:grpSpPr>
          <a:xfrm>
            <a:off x="5366440" y="2192994"/>
            <a:ext cx="5222617" cy="1502747"/>
            <a:chOff x="4892813" y="1486334"/>
            <a:chExt cx="5222617" cy="150274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701880C-0920-27F4-3575-789EF573C2E3}"/>
                </a:ext>
              </a:extLst>
            </p:cNvPr>
            <p:cNvGrpSpPr/>
            <p:nvPr/>
          </p:nvGrpSpPr>
          <p:grpSpPr>
            <a:xfrm>
              <a:off x="5816391" y="2230070"/>
              <a:ext cx="4299039" cy="759011"/>
              <a:chOff x="6858133" y="5061100"/>
              <a:chExt cx="4299039" cy="759011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391F230-5063-63F8-F315-C4C23AD89FC0}"/>
                  </a:ext>
                </a:extLst>
              </p:cNvPr>
              <p:cNvGrpSpPr/>
              <p:nvPr/>
            </p:nvGrpSpPr>
            <p:grpSpPr>
              <a:xfrm>
                <a:off x="6858133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5743992A-47CB-92AA-316D-7A4C9C823685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3CB6EA2A-BCC9-120E-3AA1-D5B53E241286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73A9DF25-AE50-F406-F9DA-80EAC8C77AF9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10</a:t>
                    </a:r>
                    <a:endParaRPr lang="en-IL" dirty="0"/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647DEFBD-3581-F821-B0D8-D3FA76457029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88548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3DB7B54F-3F86-C419-4DB5-AF15ED9D1E4A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A80A480C-4D9D-11F5-53B5-D54AC7A1C288}"/>
                  </a:ext>
                </a:extLst>
              </p:cNvPr>
              <p:cNvGrpSpPr/>
              <p:nvPr/>
            </p:nvGrpSpPr>
            <p:grpSpPr>
              <a:xfrm>
                <a:off x="8870396" y="5061100"/>
                <a:ext cx="1739527" cy="759011"/>
                <a:chOff x="647057" y="3428941"/>
                <a:chExt cx="1739527" cy="759011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2EB71786-2E8A-8C79-DA9F-252D90758266}"/>
                    </a:ext>
                  </a:extLst>
                </p:cNvPr>
                <p:cNvGrpSpPr/>
                <p:nvPr/>
              </p:nvGrpSpPr>
              <p:grpSpPr>
                <a:xfrm>
                  <a:off x="647057" y="3429000"/>
                  <a:ext cx="1739527" cy="758952"/>
                  <a:chOff x="647057" y="3781640"/>
                  <a:chExt cx="1931550" cy="813816"/>
                </a:xfrm>
              </p:grpSpPr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73A55DFC-4487-8802-25B9-0080686AE7AD}"/>
                      </a:ext>
                    </a:extLst>
                  </p:cNvPr>
                  <p:cNvSpPr/>
                  <p:nvPr/>
                </p:nvSpPr>
                <p:spPr>
                  <a:xfrm>
                    <a:off x="647057" y="3781640"/>
                    <a:ext cx="1931550" cy="813816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5FED9B94-EA46-F22F-A7B6-C55F03CC0C37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26" y="4183046"/>
                    <a:ext cx="777241" cy="396031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40</a:t>
                    </a:r>
                    <a:endParaRPr lang="en-IL" dirty="0"/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9F27F779-857B-0C3D-B8E6-257CAADEF12A}"/>
                      </a:ext>
                    </a:extLst>
                  </p:cNvPr>
                  <p:cNvSpPr txBox="1"/>
                  <p:nvPr/>
                </p:nvSpPr>
                <p:spPr>
                  <a:xfrm>
                    <a:off x="1687041" y="4188548"/>
                    <a:ext cx="777241" cy="369332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</p:grp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A1CFA2F-A0F0-16C5-FF36-15EDC50081F5}"/>
                    </a:ext>
                  </a:extLst>
                </p:cNvPr>
                <p:cNvSpPr txBox="1"/>
                <p:nvPr/>
              </p:nvSpPr>
              <p:spPr>
                <a:xfrm>
                  <a:off x="1204141" y="3428941"/>
                  <a:ext cx="699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dirty="0"/>
                    <a:t>node</a:t>
                  </a:r>
                  <a:endParaRPr lang="en-IL" dirty="0"/>
                </a:p>
              </p:txBody>
            </p:sp>
          </p:grp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7B63F284-7F00-E90F-C0E4-CFD0C3B2D317}"/>
                  </a:ext>
                </a:extLst>
              </p:cNvPr>
              <p:cNvCxnSpPr>
                <a:cxnSpLocks/>
                <a:stCxn id="57" idx="3"/>
                <a:endCxn id="50" idx="1"/>
              </p:cNvCxnSpPr>
              <p:nvPr/>
            </p:nvCxnSpPr>
            <p:spPr>
              <a:xfrm flipV="1">
                <a:off x="8494700" y="5440635"/>
                <a:ext cx="375696" cy="17221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13BE4418-987A-7EB4-5BD4-BB031281947A}"/>
                  </a:ext>
                </a:extLst>
              </p:cNvPr>
              <p:cNvGrpSpPr/>
              <p:nvPr/>
            </p:nvGrpSpPr>
            <p:grpSpPr>
              <a:xfrm>
                <a:off x="11007818" y="5458511"/>
                <a:ext cx="149354" cy="290772"/>
                <a:chOff x="10298162" y="4547661"/>
                <a:chExt cx="149354" cy="363464"/>
              </a:xfrm>
            </p:grpSpPr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81CEA2D-D3F3-C2AB-E4B5-F49AA4B441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98162" y="4547661"/>
                  <a:ext cx="0" cy="36346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415CCF82-DE43-71CD-9C59-5C7DB2319D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68268" y="4605218"/>
                  <a:ext cx="0" cy="24824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CC8B6774-2BA5-3888-0C74-7B604D4B05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47516" y="4659278"/>
                  <a:ext cx="0" cy="14013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9C5B6D9-4597-C2E2-E1CC-43B97BC11408}"/>
                  </a:ext>
                </a:extLst>
              </p:cNvPr>
              <p:cNvCxnSpPr>
                <a:cxnSpLocks/>
                <a:stCxn id="52" idx="3"/>
              </p:cNvCxnSpPr>
              <p:nvPr/>
            </p:nvCxnSpPr>
            <p:spPr>
              <a:xfrm flipV="1">
                <a:off x="10506963" y="5600118"/>
                <a:ext cx="472858" cy="1273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F6A1B2E-3A3C-C0E8-D9CE-57DA8855F5FE}"/>
                </a:ext>
              </a:extLst>
            </p:cNvPr>
            <p:cNvSpPr txBox="1"/>
            <p:nvPr/>
          </p:nvSpPr>
          <p:spPr>
            <a:xfrm>
              <a:off x="4892813" y="1486334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head</a:t>
              </a:r>
              <a:endParaRPr lang="en-IL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B4212E1-9B0B-6B83-8D0B-83760B0E5062}"/>
                </a:ext>
              </a:extLst>
            </p:cNvPr>
            <p:cNvCxnSpPr>
              <a:cxnSpLocks/>
              <a:stCxn id="36" idx="2"/>
              <a:endCxn id="55" idx="1"/>
            </p:cNvCxnSpPr>
            <p:nvPr/>
          </p:nvCxnSpPr>
          <p:spPr>
            <a:xfrm>
              <a:off x="5257814" y="1855666"/>
              <a:ext cx="558577" cy="7539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7432C2-B4A3-5F3D-B5D6-B9AC2734B10E}"/>
                </a:ext>
              </a:extLst>
            </p:cNvPr>
            <p:cNvSpPr txBox="1"/>
            <p:nvPr/>
          </p:nvSpPr>
          <p:spPr>
            <a:xfrm>
              <a:off x="8371670" y="1486334"/>
              <a:ext cx="73000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</a:t>
              </a:r>
              <a:endParaRPr lang="en-IL" dirty="0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3648B97-E0A2-DE21-4E54-5F3F59F8F23B}"/>
                </a:ext>
              </a:extLst>
            </p:cNvPr>
            <p:cNvCxnSpPr>
              <a:cxnSpLocks/>
              <a:stCxn id="38" idx="2"/>
              <a:endCxn id="49" idx="0"/>
            </p:cNvCxnSpPr>
            <p:nvPr/>
          </p:nvCxnSpPr>
          <p:spPr>
            <a:xfrm flipH="1">
              <a:off x="8735724" y="1855666"/>
              <a:ext cx="947" cy="3744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049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8227"/>
          </a:xfrm>
        </p:spPr>
        <p:txBody>
          <a:bodyPr>
            <a:normAutofit/>
          </a:bodyPr>
          <a:lstStyle/>
          <a:p>
            <a:pPr algn="ctr"/>
            <a:r>
              <a:rPr lang="he-IL" dirty="0"/>
              <a:t>שאלה – כתוב פעולה שמשרשרת 10 חוליות</a:t>
            </a:r>
            <a:br>
              <a:rPr lang="en-US" dirty="0"/>
            </a:br>
            <a:r>
              <a:rPr lang="he-IL" dirty="0"/>
              <a:t> עם הערכים </a:t>
            </a:r>
            <a:r>
              <a:rPr lang="en-US" dirty="0"/>
              <a:t>10,20,30 …</a:t>
            </a:r>
            <a:endParaRPr lang="he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ED94F9-2401-D22C-03E2-0084FECCA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837" y="1758332"/>
            <a:ext cx="3930981" cy="3341335"/>
          </a:xfrm>
        </p:spPr>
      </p:pic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42" r="7107" b="22716"/>
          <a:stretch/>
        </p:blipFill>
        <p:spPr bwMode="auto">
          <a:xfrm>
            <a:off x="1098531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4B314C20-9DB6-04E1-9C84-00CDF9FFA930}"/>
              </a:ext>
            </a:extLst>
          </p:cNvPr>
          <p:cNvGrpSpPr/>
          <p:nvPr/>
        </p:nvGrpSpPr>
        <p:grpSpPr>
          <a:xfrm>
            <a:off x="2831317" y="5467555"/>
            <a:ext cx="1739527" cy="759011"/>
            <a:chOff x="647057" y="3428941"/>
            <a:chExt cx="1739527" cy="75901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39240F3-273E-E319-E875-A571B79D8228}"/>
                </a:ext>
              </a:extLst>
            </p:cNvPr>
            <p:cNvGrpSpPr/>
            <p:nvPr/>
          </p:nvGrpSpPr>
          <p:grpSpPr>
            <a:xfrm>
              <a:off x="647057" y="3429000"/>
              <a:ext cx="1739527" cy="758952"/>
              <a:chOff x="647057" y="3781640"/>
              <a:chExt cx="1931550" cy="813816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4838629-887D-C693-C7F7-A9A526E2A1F1}"/>
                  </a:ext>
                </a:extLst>
              </p:cNvPr>
              <p:cNvSpPr/>
              <p:nvPr/>
            </p:nvSpPr>
            <p:spPr>
              <a:xfrm>
                <a:off x="647057" y="3781640"/>
                <a:ext cx="1931550" cy="813816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A3A87A3-988F-B912-98CB-4873914DC32D}"/>
                  </a:ext>
                </a:extLst>
              </p:cNvPr>
              <p:cNvSpPr txBox="1"/>
              <p:nvPr/>
            </p:nvSpPr>
            <p:spPr>
              <a:xfrm>
                <a:off x="742226" y="4183046"/>
                <a:ext cx="777241" cy="396031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10</a:t>
                </a:r>
                <a:endParaRPr lang="en-IL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E8509D-E84A-0D98-31B9-E22EEFA3440E}"/>
                  </a:ext>
                </a:extLst>
              </p:cNvPr>
              <p:cNvSpPr txBox="1"/>
              <p:nvPr/>
            </p:nvSpPr>
            <p:spPr>
              <a:xfrm>
                <a:off x="1687041" y="4198656"/>
                <a:ext cx="777241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next</a:t>
                </a:r>
                <a:endParaRPr lang="en-IL" dirty="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DC6EB6A-B4AF-D5BC-E956-B689A26CD91D}"/>
                </a:ext>
              </a:extLst>
            </p:cNvPr>
            <p:cNvSpPr txBox="1"/>
            <p:nvPr/>
          </p:nvSpPr>
          <p:spPr>
            <a:xfrm>
              <a:off x="1204141" y="3428941"/>
              <a:ext cx="699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node</a:t>
              </a:r>
              <a:endParaRPr lang="en-IL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1F28CB2-2B13-2776-3887-A981403894EA}"/>
              </a:ext>
            </a:extLst>
          </p:cNvPr>
          <p:cNvGrpSpPr/>
          <p:nvPr/>
        </p:nvGrpSpPr>
        <p:grpSpPr>
          <a:xfrm>
            <a:off x="4843580" y="5467555"/>
            <a:ext cx="1739527" cy="759011"/>
            <a:chOff x="647057" y="3428941"/>
            <a:chExt cx="1739527" cy="75901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5E234CC-22F1-A09B-A00E-39A52ADD20F2}"/>
                </a:ext>
              </a:extLst>
            </p:cNvPr>
            <p:cNvGrpSpPr/>
            <p:nvPr/>
          </p:nvGrpSpPr>
          <p:grpSpPr>
            <a:xfrm>
              <a:off x="647057" y="3429000"/>
              <a:ext cx="1739527" cy="758952"/>
              <a:chOff x="647057" y="3781640"/>
              <a:chExt cx="1931550" cy="813816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54D7C59-F811-F2A6-7DEF-64207DD72B54}"/>
                  </a:ext>
                </a:extLst>
              </p:cNvPr>
              <p:cNvSpPr/>
              <p:nvPr/>
            </p:nvSpPr>
            <p:spPr>
              <a:xfrm>
                <a:off x="647057" y="3781640"/>
                <a:ext cx="1931550" cy="813816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CF17528-B717-0243-531F-468ADE24F2DC}"/>
                  </a:ext>
                </a:extLst>
              </p:cNvPr>
              <p:cNvSpPr txBox="1"/>
              <p:nvPr/>
            </p:nvSpPr>
            <p:spPr>
              <a:xfrm>
                <a:off x="742226" y="4183046"/>
                <a:ext cx="777241" cy="396031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20</a:t>
                </a:r>
                <a:endParaRPr lang="en-IL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B8C3F76-BF7F-0166-4465-6E4AEA113877}"/>
                  </a:ext>
                </a:extLst>
              </p:cNvPr>
              <p:cNvSpPr txBox="1"/>
              <p:nvPr/>
            </p:nvSpPr>
            <p:spPr>
              <a:xfrm>
                <a:off x="1687041" y="4198656"/>
                <a:ext cx="777241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next</a:t>
                </a:r>
                <a:endParaRPr lang="en-IL" dirty="0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0C92533-E202-4981-1541-80D4B2C9A7E9}"/>
                </a:ext>
              </a:extLst>
            </p:cNvPr>
            <p:cNvSpPr txBox="1"/>
            <p:nvPr/>
          </p:nvSpPr>
          <p:spPr>
            <a:xfrm>
              <a:off x="1204141" y="3428941"/>
              <a:ext cx="699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node</a:t>
              </a:r>
              <a:endParaRPr lang="en-IL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E652B5-6E33-3C3A-007C-09682F97C6C4}"/>
              </a:ext>
            </a:extLst>
          </p:cNvPr>
          <p:cNvCxnSpPr>
            <a:cxnSpLocks/>
            <a:stCxn id="44" idx="3"/>
            <a:endCxn id="37" idx="1"/>
          </p:cNvCxnSpPr>
          <p:nvPr/>
        </p:nvCxnSpPr>
        <p:spPr>
          <a:xfrm flipV="1">
            <a:off x="4467884" y="5847090"/>
            <a:ext cx="375696" cy="1816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D2B5590-E6BB-29DB-4EC6-BE7E14F7E39F}"/>
              </a:ext>
            </a:extLst>
          </p:cNvPr>
          <p:cNvCxnSpPr>
            <a:cxnSpLocks/>
          </p:cNvCxnSpPr>
          <p:nvPr/>
        </p:nvCxnSpPr>
        <p:spPr>
          <a:xfrm flipV="1">
            <a:off x="6477314" y="5863983"/>
            <a:ext cx="349818" cy="1626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2B7F3AE-4E88-AC0D-B19D-B658D9A339D1}"/>
              </a:ext>
            </a:extLst>
          </p:cNvPr>
          <p:cNvSpPr txBox="1"/>
          <p:nvPr/>
        </p:nvSpPr>
        <p:spPr>
          <a:xfrm>
            <a:off x="1512469" y="5679317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head</a:t>
            </a:r>
            <a:endParaRPr lang="en-IL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9313C8-F4D2-E707-F0FD-DF6E1578ED00}"/>
              </a:ext>
            </a:extLst>
          </p:cNvPr>
          <p:cNvCxnSpPr>
            <a:cxnSpLocks/>
            <a:stCxn id="17" idx="3"/>
            <a:endCxn id="42" idx="1"/>
          </p:cNvCxnSpPr>
          <p:nvPr/>
        </p:nvCxnSpPr>
        <p:spPr>
          <a:xfrm flipV="1">
            <a:off x="2242471" y="5847090"/>
            <a:ext cx="588846" cy="168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2037E0D-EC66-18DF-936E-C17C1FED0558}"/>
              </a:ext>
            </a:extLst>
          </p:cNvPr>
          <p:cNvSpPr txBox="1"/>
          <p:nvPr/>
        </p:nvSpPr>
        <p:spPr>
          <a:xfrm>
            <a:off x="9018989" y="4783243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  <a:endParaRPr lang="en-IL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19D049-5BFA-2340-9038-02332483AB42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9383990" y="5152575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AFD31D4-19AE-5D51-1640-16341D68786B}"/>
              </a:ext>
            </a:extLst>
          </p:cNvPr>
          <p:cNvGrpSpPr/>
          <p:nvPr/>
        </p:nvGrpSpPr>
        <p:grpSpPr>
          <a:xfrm>
            <a:off x="8932234" y="5462753"/>
            <a:ext cx="2314163" cy="758952"/>
            <a:chOff x="11920141" y="3697353"/>
            <a:chExt cx="2314163" cy="75895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C1A82B7-2247-D602-D134-1427A1954391}"/>
                </a:ext>
              </a:extLst>
            </p:cNvPr>
            <p:cNvGrpSpPr/>
            <p:nvPr/>
          </p:nvGrpSpPr>
          <p:grpSpPr>
            <a:xfrm>
              <a:off x="11920141" y="3697353"/>
              <a:ext cx="1739527" cy="758952"/>
              <a:chOff x="11124082" y="2767860"/>
              <a:chExt cx="1739527" cy="758952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9505269-FFF6-566B-E533-18A6650E3088}"/>
                  </a:ext>
                </a:extLst>
              </p:cNvPr>
              <p:cNvSpPr/>
              <p:nvPr/>
            </p:nvSpPr>
            <p:spPr>
              <a:xfrm>
                <a:off x="11124082" y="2767860"/>
                <a:ext cx="1739527" cy="75895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FD9033-C2F3-60E6-971D-E6397521F61E}"/>
                  </a:ext>
                </a:extLst>
              </p:cNvPr>
              <p:cNvSpPr txBox="1"/>
              <p:nvPr/>
            </p:nvSpPr>
            <p:spPr>
              <a:xfrm>
                <a:off x="11209958" y="3149929"/>
                <a:ext cx="699972" cy="335757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he-IL" dirty="0"/>
                  <a:t>3</a:t>
                </a:r>
                <a:r>
                  <a:rPr lang="en-US" dirty="0"/>
                  <a:t>0</a:t>
                </a:r>
                <a:endParaRPr lang="en-IL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BFA7DBC-A4AE-F3F1-D64E-F656BB3F6515}"/>
                  </a:ext>
                </a:extLst>
              </p:cNvPr>
              <p:cNvSpPr txBox="1"/>
              <p:nvPr/>
            </p:nvSpPr>
            <p:spPr>
              <a:xfrm>
                <a:off x="12060845" y="3147699"/>
                <a:ext cx="699972" cy="344433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next</a:t>
                </a:r>
                <a:endParaRPr lang="en-IL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49C2FA-2B62-F681-6304-AC56E2C818C3}"/>
                  </a:ext>
                </a:extLst>
              </p:cNvPr>
              <p:cNvSpPr txBox="1"/>
              <p:nvPr/>
            </p:nvSpPr>
            <p:spPr>
              <a:xfrm>
                <a:off x="11681334" y="2787018"/>
                <a:ext cx="6999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node</a:t>
                </a:r>
                <a:endParaRPr lang="en-IL" dirty="0"/>
              </a:p>
            </p:txBody>
          </p:sp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F27AC96-F43D-6A82-C8A7-0C795E1C70C8}"/>
                </a:ext>
              </a:extLst>
            </p:cNvPr>
            <p:cNvCxnSpPr>
              <a:cxnSpLocks/>
            </p:cNvCxnSpPr>
            <p:nvPr/>
          </p:nvCxnSpPr>
          <p:spPr>
            <a:xfrm>
              <a:off x="14073750" y="3953197"/>
              <a:ext cx="0" cy="2907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4E51BA8-00E6-A7A4-D96B-FDD1384F5C65}"/>
                </a:ext>
              </a:extLst>
            </p:cNvPr>
            <p:cNvCxnSpPr>
              <a:cxnSpLocks/>
            </p:cNvCxnSpPr>
            <p:nvPr/>
          </p:nvCxnSpPr>
          <p:spPr>
            <a:xfrm>
              <a:off x="14149112" y="3999282"/>
              <a:ext cx="0" cy="1986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FEC33E-A90E-FDE1-C26C-32E246A64FE9}"/>
                </a:ext>
              </a:extLst>
            </p:cNvPr>
            <p:cNvCxnSpPr>
              <a:cxnSpLocks/>
            </p:cNvCxnSpPr>
            <p:nvPr/>
          </p:nvCxnSpPr>
          <p:spPr>
            <a:xfrm>
              <a:off x="14234304" y="4042530"/>
              <a:ext cx="0" cy="1121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BACD6F8-496D-1621-1E16-522752871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46039" y="4077827"/>
              <a:ext cx="475691" cy="1508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ABCD74-B568-CEA8-243B-A379C0B8EAF5}"/>
              </a:ext>
            </a:extLst>
          </p:cNvPr>
          <p:cNvSpPr txBox="1"/>
          <p:nvPr/>
        </p:nvSpPr>
        <p:spPr>
          <a:xfrm>
            <a:off x="5791417" y="4756727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0"/>
            <a:r>
              <a:rPr lang="en-US" dirty="0"/>
              <a:t>last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B6BA3E-3012-89F8-0C5F-E4C3FA38BAD8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56418" y="5126059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F116178-D447-9794-4CAB-C76F1B592261}"/>
              </a:ext>
            </a:extLst>
          </p:cNvPr>
          <p:cNvGrpSpPr/>
          <p:nvPr/>
        </p:nvGrpSpPr>
        <p:grpSpPr>
          <a:xfrm>
            <a:off x="6836741" y="5441998"/>
            <a:ext cx="1739527" cy="758952"/>
            <a:chOff x="6836741" y="5441998"/>
            <a:chExt cx="1739527" cy="75895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0DCFF0-749E-08FD-6842-4C1A546EBB7E}"/>
                </a:ext>
              </a:extLst>
            </p:cNvPr>
            <p:cNvSpPr/>
            <p:nvPr/>
          </p:nvSpPr>
          <p:spPr>
            <a:xfrm>
              <a:off x="6836741" y="5441998"/>
              <a:ext cx="1739527" cy="75895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E1F518-8644-5876-E3B2-3CB8789DE89E}"/>
                </a:ext>
              </a:extLst>
            </p:cNvPr>
            <p:cNvSpPr txBox="1"/>
            <p:nvPr/>
          </p:nvSpPr>
          <p:spPr>
            <a:xfrm>
              <a:off x="6922617" y="5824067"/>
              <a:ext cx="699972" cy="369332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25</a:t>
              </a:r>
              <a:endParaRPr lang="en-IL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561BD0-37CC-0341-3D86-A82CA13AEEAE}"/>
                </a:ext>
              </a:extLst>
            </p:cNvPr>
            <p:cNvSpPr txBox="1"/>
            <p:nvPr/>
          </p:nvSpPr>
          <p:spPr>
            <a:xfrm>
              <a:off x="7773504" y="5821837"/>
              <a:ext cx="699972" cy="344433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next</a:t>
              </a:r>
              <a:endParaRPr lang="en-IL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681B37A-DD09-35BE-046F-3428E6C2E35E}"/>
                </a:ext>
              </a:extLst>
            </p:cNvPr>
            <p:cNvSpPr txBox="1"/>
            <p:nvPr/>
          </p:nvSpPr>
          <p:spPr>
            <a:xfrm>
              <a:off x="7393993" y="5461156"/>
              <a:ext cx="699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node</a:t>
              </a:r>
              <a:endParaRPr lang="en-IL" dirty="0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834F70-B051-71A3-99C2-487C7973228F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8473476" y="5843228"/>
            <a:ext cx="475691" cy="1508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76ADF3-20CA-EF3D-7382-746682198B95}"/>
              </a:ext>
            </a:extLst>
          </p:cNvPr>
          <p:cNvSpPr txBox="1"/>
          <p:nvPr/>
        </p:nvSpPr>
        <p:spPr>
          <a:xfrm>
            <a:off x="3358371" y="4765018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0"/>
            <a:r>
              <a:rPr lang="en-US" dirty="0"/>
              <a:t>last</a:t>
            </a:r>
            <a:endParaRPr lang="en-IL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E1FA67F-917E-1B17-6C61-50FED6A983C2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3723372" y="5134350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3485A2A-148D-66A4-426F-176C28D61A41}"/>
              </a:ext>
            </a:extLst>
          </p:cNvPr>
          <p:cNvSpPr txBox="1"/>
          <p:nvPr/>
        </p:nvSpPr>
        <p:spPr>
          <a:xfrm>
            <a:off x="5018510" y="4766188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  <a:endParaRPr lang="en-IL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73CDB7C-235C-B973-0879-20C9BF4D7FEF}"/>
              </a:ext>
            </a:extLst>
          </p:cNvPr>
          <p:cNvCxnSpPr>
            <a:cxnSpLocks/>
            <a:stCxn id="52" idx="2"/>
          </p:cNvCxnSpPr>
          <p:nvPr/>
        </p:nvCxnSpPr>
        <p:spPr>
          <a:xfrm>
            <a:off x="5383511" y="5135520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EA99CF7-E53A-30F6-024A-DB4250841986}"/>
              </a:ext>
            </a:extLst>
          </p:cNvPr>
          <p:cNvSpPr txBox="1"/>
          <p:nvPr/>
        </p:nvSpPr>
        <p:spPr>
          <a:xfrm>
            <a:off x="5793806" y="4756042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0"/>
            <a:r>
              <a:rPr lang="en-US" dirty="0"/>
              <a:t>last</a:t>
            </a:r>
            <a:endParaRPr lang="en-IL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B8E1279-4658-DC2C-1C65-A7809B1F213D}"/>
              </a:ext>
            </a:extLst>
          </p:cNvPr>
          <p:cNvCxnSpPr>
            <a:cxnSpLocks/>
          </p:cNvCxnSpPr>
          <p:nvPr/>
        </p:nvCxnSpPr>
        <p:spPr>
          <a:xfrm>
            <a:off x="6159089" y="5125374"/>
            <a:ext cx="6348" cy="3889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A04C031-7387-9ABB-D5F5-D70B60EFB72F}"/>
              </a:ext>
            </a:extLst>
          </p:cNvPr>
          <p:cNvSpPr txBox="1"/>
          <p:nvPr/>
        </p:nvSpPr>
        <p:spPr>
          <a:xfrm>
            <a:off x="7028992" y="4736884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  <a:endParaRPr lang="en-IL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E11592C-26AA-2321-1175-22C88ED16087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7393993" y="5106216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D615F6F-6A19-0C33-003C-3AF5F7D7B019}"/>
              </a:ext>
            </a:extLst>
          </p:cNvPr>
          <p:cNvSpPr txBox="1"/>
          <p:nvPr/>
        </p:nvSpPr>
        <p:spPr>
          <a:xfrm>
            <a:off x="9841617" y="4783243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0"/>
            <a:r>
              <a:rPr lang="en-US" dirty="0"/>
              <a:t>last</a:t>
            </a:r>
            <a:endParaRPr lang="en-IL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13E4AFA-B797-737E-E3C3-0167B9ED6422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10206618" y="5152575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6104DD5-ECFE-BB02-795F-D46D6A22F918}"/>
              </a:ext>
            </a:extLst>
          </p:cNvPr>
          <p:cNvSpPr txBox="1"/>
          <p:nvPr/>
        </p:nvSpPr>
        <p:spPr>
          <a:xfrm>
            <a:off x="3347089" y="4753524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0"/>
            <a:r>
              <a:rPr lang="en-US" dirty="0"/>
              <a:t>last</a:t>
            </a:r>
            <a:endParaRPr lang="en-IL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B8C5453-8B82-E4D2-B37F-0764034551B1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3712090" y="5122856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823A29E-2D85-4EB5-FF7A-0E8C021CCE0B}"/>
              </a:ext>
            </a:extLst>
          </p:cNvPr>
          <p:cNvSpPr txBox="1"/>
          <p:nvPr/>
        </p:nvSpPr>
        <p:spPr>
          <a:xfrm>
            <a:off x="5033750" y="4772284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  <a:endParaRPr lang="en-IL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2572408-AB2D-0881-218A-C736EA88FA24}"/>
              </a:ext>
            </a:extLst>
          </p:cNvPr>
          <p:cNvCxnSpPr>
            <a:cxnSpLocks/>
            <a:stCxn id="67" idx="2"/>
          </p:cNvCxnSpPr>
          <p:nvPr/>
        </p:nvCxnSpPr>
        <p:spPr>
          <a:xfrm>
            <a:off x="5398751" y="5141616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40C021C-04B5-20E5-4743-4A6B59652DD2}"/>
              </a:ext>
            </a:extLst>
          </p:cNvPr>
          <p:cNvSpPr txBox="1"/>
          <p:nvPr/>
        </p:nvSpPr>
        <p:spPr>
          <a:xfrm>
            <a:off x="7821926" y="4728913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0"/>
            <a:r>
              <a:rPr lang="en-US" dirty="0"/>
              <a:t>last</a:t>
            </a:r>
            <a:endParaRPr lang="en-IL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3E39B24-46E0-83A3-00B3-2F6190BDEFA9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186927" y="5098245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8A8ADDF-02EE-6BD9-8492-807089F42EDE}"/>
              </a:ext>
            </a:extLst>
          </p:cNvPr>
          <p:cNvSpPr txBox="1"/>
          <p:nvPr/>
        </p:nvSpPr>
        <p:spPr>
          <a:xfrm>
            <a:off x="7025729" y="4728122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  <a:endParaRPr lang="en-IL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5271A72-D5AE-499F-1E50-7AB799EBF7EB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7390730" y="5097454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E51E52B-3972-7977-8AEA-A32A85FDBA99}"/>
              </a:ext>
            </a:extLst>
          </p:cNvPr>
          <p:cNvSpPr txBox="1"/>
          <p:nvPr/>
        </p:nvSpPr>
        <p:spPr>
          <a:xfrm>
            <a:off x="7818663" y="4736884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0"/>
            <a:r>
              <a:rPr lang="en-US" dirty="0"/>
              <a:t>last</a:t>
            </a:r>
            <a:endParaRPr lang="en-IL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099D6AC-42ED-8E36-3E5F-D3A5180A50F4}"/>
              </a:ext>
            </a:extLst>
          </p:cNvPr>
          <p:cNvCxnSpPr>
            <a:cxnSpLocks/>
            <a:stCxn id="73" idx="2"/>
          </p:cNvCxnSpPr>
          <p:nvPr/>
        </p:nvCxnSpPr>
        <p:spPr>
          <a:xfrm>
            <a:off x="8183664" y="5106216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22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9" grpId="0" animBg="1"/>
      <p:bldP spid="50" grpId="0" animBg="1"/>
      <p:bldP spid="52" grpId="0" animBg="1"/>
      <p:bldP spid="54" grpId="0" animBg="1"/>
      <p:bldP spid="57" grpId="0" animBg="1"/>
      <p:bldP spid="61" grpId="0" animBg="1"/>
      <p:bldP spid="65" grpId="0" animBg="1"/>
      <p:bldP spid="67" grpId="0" animBg="1"/>
      <p:bldP spid="69" grpId="0" animBg="1"/>
      <p:bldP spid="71" grpId="0" animBg="1"/>
      <p:bldP spid="7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תרגיל – כתוב פעולה המקבלת מצביע לראש השרשרת ומדפיסה את כל הערכים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35C392-CA53-D1CF-D8E3-40A10A727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921806" cy="19479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CCF1C4-63DA-570B-7E34-678EC1F3959C}"/>
              </a:ext>
            </a:extLst>
          </p:cNvPr>
          <p:cNvSpPr txBox="1"/>
          <p:nvPr/>
        </p:nvSpPr>
        <p:spPr>
          <a:xfrm>
            <a:off x="2938256" y="4134502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0"/>
            <a:r>
              <a:rPr lang="en-US" dirty="0"/>
              <a:t>p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9FBEC2D-55B5-A801-6C74-A6D189EF68FD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303257" y="4503834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8B67E98-DA9D-B774-077E-666FA1FCDA26}"/>
              </a:ext>
            </a:extLst>
          </p:cNvPr>
          <p:cNvGrpSpPr/>
          <p:nvPr/>
        </p:nvGrpSpPr>
        <p:grpSpPr>
          <a:xfrm>
            <a:off x="1146709" y="4801918"/>
            <a:ext cx="9733928" cy="784568"/>
            <a:chOff x="1146709" y="4801918"/>
            <a:chExt cx="9733928" cy="78456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7D32329-005E-7046-024E-C09D56B911A5}"/>
                </a:ext>
              </a:extLst>
            </p:cNvPr>
            <p:cNvGrpSpPr/>
            <p:nvPr/>
          </p:nvGrpSpPr>
          <p:grpSpPr>
            <a:xfrm>
              <a:off x="1146709" y="4822673"/>
              <a:ext cx="9733928" cy="763813"/>
              <a:chOff x="4493139" y="4167934"/>
              <a:chExt cx="9733928" cy="763813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E0E1079-62D9-D4A2-CC01-3DF4CF4A5E8E}"/>
                  </a:ext>
                </a:extLst>
              </p:cNvPr>
              <p:cNvGrpSpPr/>
              <p:nvPr/>
            </p:nvGrpSpPr>
            <p:grpSpPr>
              <a:xfrm>
                <a:off x="5811987" y="4172736"/>
                <a:ext cx="3995815" cy="759011"/>
                <a:chOff x="6858133" y="5061100"/>
                <a:chExt cx="3995815" cy="759011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66087ECA-1FA3-B13B-4CD9-BDCC7D286059}"/>
                    </a:ext>
                  </a:extLst>
                </p:cNvPr>
                <p:cNvGrpSpPr/>
                <p:nvPr/>
              </p:nvGrpSpPr>
              <p:grpSpPr>
                <a:xfrm>
                  <a:off x="6858133" y="5061100"/>
                  <a:ext cx="1739527" cy="759011"/>
                  <a:chOff x="647057" y="3428941"/>
                  <a:chExt cx="1739527" cy="759011"/>
                </a:xfrm>
              </p:grpSpPr>
              <p:grpSp>
                <p:nvGrpSpPr>
                  <p:cNvPr id="44" name="Group 43">
                    <a:extLst>
                      <a:ext uri="{FF2B5EF4-FFF2-40B4-BE49-F238E27FC236}">
                        <a16:creationId xmlns:a16="http://schemas.microsoft.com/office/drawing/2014/main" id="{0BB97F87-DD1C-7AEF-D1AF-971A8167F2EB}"/>
                      </a:ext>
                    </a:extLst>
                  </p:cNvPr>
                  <p:cNvGrpSpPr/>
                  <p:nvPr/>
                </p:nvGrpSpPr>
                <p:grpSpPr>
                  <a:xfrm>
                    <a:off x="647057" y="3429000"/>
                    <a:ext cx="1739527" cy="758952"/>
                    <a:chOff x="647057" y="3781640"/>
                    <a:chExt cx="1931550" cy="813816"/>
                  </a:xfrm>
                </p:grpSpPr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4E02446C-87A4-F80C-C203-91DCC4F4B4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057" y="3781640"/>
                      <a:ext cx="1931550" cy="813816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/>
                    </a:p>
                  </p:txBody>
                </p:sp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1061B16E-7F7D-0DA1-7034-C17392F07CA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2226" y="4183046"/>
                      <a:ext cx="777241" cy="396031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 rtl="0"/>
                      <a:r>
                        <a:rPr lang="en-US" dirty="0"/>
                        <a:t>10</a:t>
                      </a:r>
                      <a:endParaRPr lang="en-IL" dirty="0"/>
                    </a:p>
                  </p:txBody>
                </p:sp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54C063B8-9BC0-B9CB-ABEC-E487FCC871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7041" y="4198656"/>
                      <a:ext cx="777241" cy="369332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 rtl="0"/>
                      <a:r>
                        <a:rPr lang="en-US" dirty="0"/>
                        <a:t>next</a:t>
                      </a:r>
                      <a:endParaRPr lang="en-IL" dirty="0"/>
                    </a:p>
                  </p:txBody>
                </p:sp>
              </p:grp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AB3AD6E6-2867-8346-971F-FFDDB8574163}"/>
                      </a:ext>
                    </a:extLst>
                  </p:cNvPr>
                  <p:cNvSpPr txBox="1"/>
                  <p:nvPr/>
                </p:nvSpPr>
                <p:spPr>
                  <a:xfrm>
                    <a:off x="1204141" y="3428941"/>
                    <a:ext cx="6999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node</a:t>
                    </a:r>
                    <a:endParaRPr lang="en-IL" dirty="0"/>
                  </a:p>
                </p:txBody>
              </p:sp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D781C66E-657F-2F56-ABE3-5B4712E80E24}"/>
                    </a:ext>
                  </a:extLst>
                </p:cNvPr>
                <p:cNvGrpSpPr/>
                <p:nvPr/>
              </p:nvGrpSpPr>
              <p:grpSpPr>
                <a:xfrm>
                  <a:off x="8870396" y="5061100"/>
                  <a:ext cx="1739527" cy="759011"/>
                  <a:chOff x="647057" y="3428941"/>
                  <a:chExt cx="1739527" cy="759011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3FF1F39F-2738-9C2F-BF81-4E69F83773D6}"/>
                      </a:ext>
                    </a:extLst>
                  </p:cNvPr>
                  <p:cNvGrpSpPr/>
                  <p:nvPr/>
                </p:nvGrpSpPr>
                <p:grpSpPr>
                  <a:xfrm>
                    <a:off x="647057" y="3429000"/>
                    <a:ext cx="1739527" cy="758952"/>
                    <a:chOff x="647057" y="3781640"/>
                    <a:chExt cx="1931550" cy="813816"/>
                  </a:xfrm>
                </p:grpSpPr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7DBE6F24-EB96-E4A7-3604-2A48C6F405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057" y="3781640"/>
                      <a:ext cx="1931550" cy="813816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/>
                    </a:p>
                  </p:txBody>
                </p:sp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8BCDF287-FEBE-3ABC-DB09-1835BA705D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2226" y="4183046"/>
                      <a:ext cx="777241" cy="396031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 rtl="0"/>
                      <a:r>
                        <a:rPr lang="en-US" dirty="0"/>
                        <a:t>20</a:t>
                      </a:r>
                      <a:endParaRPr lang="en-IL" dirty="0"/>
                    </a:p>
                  </p:txBody>
                </p:sp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92721D66-EA51-48DD-426D-D09467B794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7041" y="4198656"/>
                      <a:ext cx="777241" cy="369332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 rtl="0"/>
                      <a:r>
                        <a:rPr lang="en-US" dirty="0"/>
                        <a:t>next</a:t>
                      </a:r>
                      <a:endParaRPr lang="en-IL" dirty="0"/>
                    </a:p>
                  </p:txBody>
                </p:sp>
              </p:grpSp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C030C9E0-578C-67A9-3AF3-B92172D51F0C}"/>
                      </a:ext>
                    </a:extLst>
                  </p:cNvPr>
                  <p:cNvSpPr txBox="1"/>
                  <p:nvPr/>
                </p:nvSpPr>
                <p:spPr>
                  <a:xfrm>
                    <a:off x="1204141" y="3428941"/>
                    <a:ext cx="6999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node</a:t>
                    </a:r>
                    <a:endParaRPr lang="en-IL" dirty="0"/>
                  </a:p>
                </p:txBody>
              </p:sp>
            </p:grp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397E439D-E9A7-CD1A-82C9-4131EC37FBDB}"/>
                    </a:ext>
                  </a:extLst>
                </p:cNvPr>
                <p:cNvCxnSpPr>
                  <a:cxnSpLocks/>
                  <a:stCxn id="48" idx="3"/>
                  <a:endCxn id="41" idx="1"/>
                </p:cNvCxnSpPr>
                <p:nvPr/>
              </p:nvCxnSpPr>
              <p:spPr>
                <a:xfrm flipV="1">
                  <a:off x="8494700" y="5440635"/>
                  <a:ext cx="375696" cy="18164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8472DF13-B69B-B894-2938-E4C19F24C6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04130" y="5457528"/>
                  <a:ext cx="349818" cy="162642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88B760D-9ABD-A421-96AE-156409820683}"/>
                  </a:ext>
                </a:extLst>
              </p:cNvPr>
              <p:cNvSpPr txBox="1"/>
              <p:nvPr/>
            </p:nvSpPr>
            <p:spPr>
              <a:xfrm>
                <a:off x="4493139" y="4384498"/>
                <a:ext cx="730002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head</a:t>
                </a:r>
                <a:endParaRPr lang="en-IL" dirty="0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4543216-BBDF-B951-0C5D-DD1E0D16E153}"/>
                  </a:ext>
                </a:extLst>
              </p:cNvPr>
              <p:cNvCxnSpPr>
                <a:cxnSpLocks/>
                <a:stCxn id="21" idx="3"/>
                <a:endCxn id="46" idx="1"/>
              </p:cNvCxnSpPr>
              <p:nvPr/>
            </p:nvCxnSpPr>
            <p:spPr>
              <a:xfrm flipV="1">
                <a:off x="5223141" y="4552271"/>
                <a:ext cx="588846" cy="1689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FB005A4-022F-212B-3DE6-74A846C7D400}"/>
                  </a:ext>
                </a:extLst>
              </p:cNvPr>
              <p:cNvGrpSpPr/>
              <p:nvPr/>
            </p:nvGrpSpPr>
            <p:grpSpPr>
              <a:xfrm>
                <a:off x="11912904" y="4167934"/>
                <a:ext cx="2314163" cy="758952"/>
                <a:chOff x="11920141" y="3697353"/>
                <a:chExt cx="2314163" cy="758952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6C97EAF-54A2-B375-0399-019B43136425}"/>
                    </a:ext>
                  </a:extLst>
                </p:cNvPr>
                <p:cNvGrpSpPr/>
                <p:nvPr/>
              </p:nvGrpSpPr>
              <p:grpSpPr>
                <a:xfrm>
                  <a:off x="11920141" y="3697353"/>
                  <a:ext cx="1739527" cy="758952"/>
                  <a:chOff x="11124082" y="2767860"/>
                  <a:chExt cx="1739527" cy="758952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B404BB96-E998-256B-849E-51E7231D481B}"/>
                      </a:ext>
                    </a:extLst>
                  </p:cNvPr>
                  <p:cNvSpPr/>
                  <p:nvPr/>
                </p:nvSpPr>
                <p:spPr>
                  <a:xfrm>
                    <a:off x="11124082" y="2767860"/>
                    <a:ext cx="1739527" cy="758952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3F67E378-F8C9-E5EE-76B5-48FFD26F47CE}"/>
                      </a:ext>
                    </a:extLst>
                  </p:cNvPr>
                  <p:cNvSpPr txBox="1"/>
                  <p:nvPr/>
                </p:nvSpPr>
                <p:spPr>
                  <a:xfrm>
                    <a:off x="11209958" y="3149929"/>
                    <a:ext cx="699972" cy="335757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he-IL" dirty="0"/>
                      <a:t>3</a:t>
                    </a:r>
                    <a:r>
                      <a:rPr lang="en-US" dirty="0"/>
                      <a:t>0</a:t>
                    </a:r>
                    <a:endParaRPr lang="en-IL" dirty="0"/>
                  </a:p>
                </p:txBody>
              </p: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60DFA8BC-D8DD-A33A-FCE8-B553643607C2}"/>
                      </a:ext>
                    </a:extLst>
                  </p:cNvPr>
                  <p:cNvSpPr txBox="1"/>
                  <p:nvPr/>
                </p:nvSpPr>
                <p:spPr>
                  <a:xfrm>
                    <a:off x="12060845" y="3147699"/>
                    <a:ext cx="699972" cy="344433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next</a:t>
                    </a:r>
                    <a:endParaRPr lang="en-IL" dirty="0"/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3A7A42D5-C944-119D-9EF9-8D04D8A801BF}"/>
                      </a:ext>
                    </a:extLst>
                  </p:cNvPr>
                  <p:cNvSpPr txBox="1"/>
                  <p:nvPr/>
                </p:nvSpPr>
                <p:spPr>
                  <a:xfrm>
                    <a:off x="11681334" y="2787018"/>
                    <a:ext cx="6999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 rtl="0"/>
                    <a:r>
                      <a:rPr lang="en-US" dirty="0"/>
                      <a:t>node</a:t>
                    </a:r>
                    <a:endParaRPr lang="en-IL" dirty="0"/>
                  </a:p>
                </p:txBody>
              </p:sp>
            </p:grp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8B9D500D-895E-9B80-9DC4-846EA8F2AB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073750" y="3953197"/>
                  <a:ext cx="0" cy="290773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D36E53C-BAB0-0F09-11AB-DBD4D10C59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49112" y="3999282"/>
                  <a:ext cx="0" cy="19860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85029EAA-EAFF-D1E4-2616-D66F9C3454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234304" y="4042530"/>
                  <a:ext cx="0" cy="11210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AC902AC2-51CC-2C8A-662C-F86FA5A135CA}"/>
                    </a:ext>
                  </a:extLst>
                </p:cNvPr>
                <p:cNvCxnSpPr>
                  <a:cxnSpLocks/>
                  <a:stCxn id="33" idx="3"/>
                </p:cNvCxnSpPr>
                <p:nvPr/>
              </p:nvCxnSpPr>
              <p:spPr>
                <a:xfrm flipV="1">
                  <a:off x="13556876" y="4098583"/>
                  <a:ext cx="475691" cy="15082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BCD19FB-3AEB-41C0-6B22-B9109B3AF437}"/>
                </a:ext>
              </a:extLst>
            </p:cNvPr>
            <p:cNvSpPr/>
            <p:nvPr/>
          </p:nvSpPr>
          <p:spPr>
            <a:xfrm>
              <a:off x="6470981" y="4801918"/>
              <a:ext cx="1739527" cy="75895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D7F456-F62D-8E94-8130-CD086BCAC209}"/>
                </a:ext>
              </a:extLst>
            </p:cNvPr>
            <p:cNvSpPr txBox="1"/>
            <p:nvPr/>
          </p:nvSpPr>
          <p:spPr>
            <a:xfrm>
              <a:off x="6556857" y="5183987"/>
              <a:ext cx="699972" cy="369332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25</a:t>
              </a:r>
              <a:endParaRPr lang="en-IL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C0A7FC-6924-271A-0FCD-75D572E6F364}"/>
                </a:ext>
              </a:extLst>
            </p:cNvPr>
            <p:cNvSpPr txBox="1"/>
            <p:nvPr/>
          </p:nvSpPr>
          <p:spPr>
            <a:xfrm>
              <a:off x="7407744" y="5181757"/>
              <a:ext cx="699972" cy="344433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next</a:t>
              </a:r>
              <a:endParaRPr lang="en-IL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D8EA6AC-278A-F59E-14AE-2B2FCCB6F5AF}"/>
                </a:ext>
              </a:extLst>
            </p:cNvPr>
            <p:cNvSpPr txBox="1"/>
            <p:nvPr/>
          </p:nvSpPr>
          <p:spPr>
            <a:xfrm>
              <a:off x="7028233" y="4821076"/>
              <a:ext cx="699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node</a:t>
              </a:r>
              <a:endParaRPr lang="en-IL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EA411D-CD06-53EF-1441-B052D31A30A9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V="1">
              <a:off x="8107716" y="5203148"/>
              <a:ext cx="475691" cy="1508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EB343E4-514C-88C8-D17E-667581C1B7B4}"/>
              </a:ext>
            </a:extLst>
          </p:cNvPr>
          <p:cNvSpPr txBox="1"/>
          <p:nvPr/>
        </p:nvSpPr>
        <p:spPr>
          <a:xfrm>
            <a:off x="5001752" y="4131454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0"/>
            <a:r>
              <a:rPr lang="en-US" dirty="0"/>
              <a:t>p</a:t>
            </a:r>
            <a:endParaRPr lang="en-IL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F41FA48-C424-9234-BF15-DA0281F2F42A}"/>
              </a:ext>
            </a:extLst>
          </p:cNvPr>
          <p:cNvCxnSpPr>
            <a:cxnSpLocks/>
            <a:stCxn id="52" idx="2"/>
          </p:cNvCxnSpPr>
          <p:nvPr/>
        </p:nvCxnSpPr>
        <p:spPr>
          <a:xfrm>
            <a:off x="5366753" y="4500786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B887329-609C-BD55-8B8A-302D02B1EF38}"/>
              </a:ext>
            </a:extLst>
          </p:cNvPr>
          <p:cNvSpPr txBox="1"/>
          <p:nvPr/>
        </p:nvSpPr>
        <p:spPr>
          <a:xfrm>
            <a:off x="6973808" y="4146694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0"/>
            <a:r>
              <a:rPr lang="en-US" dirty="0"/>
              <a:t>p</a:t>
            </a:r>
            <a:endParaRPr lang="en-IL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0B5F18F-225A-345B-4B76-B914A624C7CD}"/>
              </a:ext>
            </a:extLst>
          </p:cNvPr>
          <p:cNvCxnSpPr>
            <a:cxnSpLocks/>
            <a:stCxn id="54" idx="2"/>
          </p:cNvCxnSpPr>
          <p:nvPr/>
        </p:nvCxnSpPr>
        <p:spPr>
          <a:xfrm>
            <a:off x="7338809" y="4516026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816B647-063E-D05C-F53B-6405FC632E2F}"/>
              </a:ext>
            </a:extLst>
          </p:cNvPr>
          <p:cNvSpPr txBox="1"/>
          <p:nvPr/>
        </p:nvSpPr>
        <p:spPr>
          <a:xfrm>
            <a:off x="9064736" y="4125358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0"/>
            <a:r>
              <a:rPr lang="en-US" dirty="0"/>
              <a:t>p</a:t>
            </a:r>
            <a:endParaRPr lang="en-IL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ABED7F8-744C-A975-6984-95512F491154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9429737" y="4494690"/>
            <a:ext cx="5871" cy="331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BA446C3-1FFE-9F65-BF7C-1872B7CF8394}"/>
              </a:ext>
            </a:extLst>
          </p:cNvPr>
          <p:cNvSpPr txBox="1"/>
          <p:nvPr/>
        </p:nvSpPr>
        <p:spPr>
          <a:xfrm>
            <a:off x="10436336" y="4134502"/>
            <a:ext cx="73000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0"/>
            <a:r>
              <a:rPr lang="en-US" dirty="0"/>
              <a:t>p</a:t>
            </a:r>
            <a:endParaRPr lang="en-IL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0B399EC-7AE6-FF79-549A-43FC5A8CCC48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10801337" y="4503834"/>
            <a:ext cx="2082" cy="5083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27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2" grpId="0" animBg="1"/>
      <p:bldP spid="54" grpId="0" animBg="1"/>
      <p:bldP spid="56" grpId="0" animBg="1"/>
      <p:bldP spid="5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dirty="0"/>
              <a:t>תרגיל – כתוב פעולה המקבלת מערך של מספרים שלמים ויצרת ממנו רשימת חוליות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C92423C2-7EA3-774C-A325-8D75694F2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701" y="2131691"/>
            <a:ext cx="5608598" cy="38983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23E642E7-B125-E0EB-B86B-0B3C8AACA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536" y="3258129"/>
            <a:ext cx="6172927" cy="252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8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 err="1"/>
              <a:t>החוליה</a:t>
            </a:r>
            <a:r>
              <a:rPr lang="he-IL" dirty="0"/>
              <a:t> הגנרית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F581AA-961C-AE47-C140-95CC0E391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נותרה לנו בעיה </a:t>
            </a:r>
            <a:r>
              <a:rPr lang="he-IL" dirty="0" err="1"/>
              <a:t>שהחוליה</a:t>
            </a:r>
            <a:r>
              <a:rPr lang="he-IL" dirty="0"/>
              <a:t> שלנו מוגבלת ל </a:t>
            </a:r>
            <a:r>
              <a:rPr lang="en-US" dirty="0"/>
              <a:t>int</a:t>
            </a:r>
            <a:r>
              <a:rPr lang="he-IL" dirty="0"/>
              <a:t> בלבד.</a:t>
            </a:r>
          </a:p>
          <a:p>
            <a:r>
              <a:rPr lang="he-IL" dirty="0"/>
              <a:t>אמנם אנחנו יכולים לבנות מחלקה חדשה לכל סוג ערך, אבל זה לא יעיל.</a:t>
            </a:r>
          </a:p>
          <a:p>
            <a:r>
              <a:rPr lang="he-IL" dirty="0"/>
              <a:t>פתרון: </a:t>
            </a:r>
          </a:p>
          <a:p>
            <a:pPr lvl="1"/>
            <a:r>
              <a:rPr lang="he-IL" dirty="0"/>
              <a:t>ניתן להגדיר את הערך כ </a:t>
            </a:r>
            <a:r>
              <a:rPr lang="en-US" dirty="0"/>
              <a:t>Object</a:t>
            </a:r>
            <a:r>
              <a:rPr lang="he-IL" dirty="0"/>
              <a:t>.</a:t>
            </a:r>
          </a:p>
          <a:p>
            <a:pPr lvl="1"/>
            <a:r>
              <a:rPr lang="he-IL" dirty="0"/>
              <a:t>אפשר יהיה להזין לחוליות ערכים מסוגים שונים.</a:t>
            </a:r>
          </a:p>
          <a:p>
            <a:pPr lvl="1"/>
            <a:r>
              <a:rPr lang="he-IL" dirty="0" err="1"/>
              <a:t>החסרון</a:t>
            </a:r>
            <a:r>
              <a:rPr lang="he-IL" dirty="0"/>
              <a:t> - נצטרך לבצע כל הזמן המרות כדי להשתמש באובייקטים.</a:t>
            </a:r>
          </a:p>
          <a:p>
            <a:r>
              <a:rPr lang="he-IL" dirty="0" err="1"/>
              <a:t>החוליה</a:t>
            </a:r>
            <a:r>
              <a:rPr lang="he-IL" dirty="0"/>
              <a:t> גנרית – שפת </a:t>
            </a:r>
            <a:r>
              <a:rPr lang="en-US" dirty="0" err="1"/>
              <a:t>c#</a:t>
            </a:r>
            <a:r>
              <a:rPr lang="he-IL" dirty="0"/>
              <a:t> מאפשרת לנו ליצור מחלקות גנריות, כלומר מחלקות </a:t>
            </a:r>
            <a:r>
              <a:rPr lang="he-IL"/>
              <a:t>שבעת הקומפילציה </a:t>
            </a:r>
            <a:r>
              <a:rPr lang="he-IL" dirty="0"/>
              <a:t>נגדיר את סוג המשתנים שאיתן הם יעבדו.</a:t>
            </a:r>
          </a:p>
          <a:p>
            <a:pPr lvl="1"/>
            <a:endParaRPr lang="he-IL" dirty="0"/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0"/>
            <a:ext cx="2488167" cy="1918007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8AB1097-F36F-7EE7-29F0-514D45BB6491}"/>
              </a:ext>
            </a:extLst>
          </p:cNvPr>
          <p:cNvGrpSpPr/>
          <p:nvPr/>
        </p:nvGrpSpPr>
        <p:grpSpPr>
          <a:xfrm>
            <a:off x="9067271" y="681037"/>
            <a:ext cx="1739527" cy="759011"/>
            <a:chOff x="647057" y="3428941"/>
            <a:chExt cx="1739527" cy="75901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51B55CE-E2C8-942E-7990-51A9911F18D0}"/>
                </a:ext>
              </a:extLst>
            </p:cNvPr>
            <p:cNvGrpSpPr/>
            <p:nvPr/>
          </p:nvGrpSpPr>
          <p:grpSpPr>
            <a:xfrm>
              <a:off x="647057" y="3429000"/>
              <a:ext cx="1739527" cy="758952"/>
              <a:chOff x="647057" y="3781640"/>
              <a:chExt cx="1931550" cy="81381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45AA0D3-6CD9-1866-FA65-FC2B8D8EBF69}"/>
                  </a:ext>
                </a:extLst>
              </p:cNvPr>
              <p:cNvSpPr/>
              <p:nvPr/>
            </p:nvSpPr>
            <p:spPr>
              <a:xfrm>
                <a:off x="647057" y="3781640"/>
                <a:ext cx="1931550" cy="813816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DAD6A1-CAA8-11BB-AF65-21EF5A63AA73}"/>
                  </a:ext>
                </a:extLst>
              </p:cNvPr>
              <p:cNvSpPr txBox="1"/>
              <p:nvPr/>
            </p:nvSpPr>
            <p:spPr>
              <a:xfrm>
                <a:off x="742226" y="4183046"/>
                <a:ext cx="777241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value</a:t>
                </a:r>
                <a:endParaRPr lang="en-IL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3C010A-D0F6-E78C-5676-4D446DAD051C}"/>
                  </a:ext>
                </a:extLst>
              </p:cNvPr>
              <p:cNvSpPr txBox="1"/>
              <p:nvPr/>
            </p:nvSpPr>
            <p:spPr>
              <a:xfrm>
                <a:off x="1687041" y="4188548"/>
                <a:ext cx="777241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dirty="0"/>
                  <a:t>next</a:t>
                </a:r>
                <a:endParaRPr lang="en-IL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369A77-93FC-92C1-DF94-0EE04D3160D0}"/>
                </a:ext>
              </a:extLst>
            </p:cNvPr>
            <p:cNvSpPr txBox="1"/>
            <p:nvPr/>
          </p:nvSpPr>
          <p:spPr>
            <a:xfrm>
              <a:off x="1204141" y="3428941"/>
              <a:ext cx="699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dirty="0"/>
                <a:t>node</a:t>
              </a:r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3168235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מחלקה גנרית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F581AA-961C-AE47-C140-95CC0E39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905"/>
            <a:ext cx="10515600" cy="4965058"/>
          </a:xfrm>
        </p:spPr>
        <p:txBody>
          <a:bodyPr>
            <a:normAutofit/>
          </a:bodyPr>
          <a:lstStyle/>
          <a:p>
            <a:r>
              <a:rPr lang="he-IL" dirty="0"/>
              <a:t>מחלקה גנרית היא מחלקה שבעת יצירת האובייקט אנחנו מעבירים לה את סוג משתנה (</a:t>
            </a:r>
            <a:r>
              <a:rPr lang="en-US" dirty="0"/>
              <a:t>int, double, car</a:t>
            </a:r>
            <a:r>
              <a:rPr lang="he-IL" dirty="0"/>
              <a:t>) ובאמצעות סוג מגדירים את סוג המשתנים.</a:t>
            </a:r>
          </a:p>
        </p:txBody>
      </p:sp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64705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F58166-B7A8-11C9-F8EC-10BF7DB99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57" y="3418631"/>
            <a:ext cx="5896798" cy="32484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9EF3FE-0A16-555A-EFE1-ED734B547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405" y="2198211"/>
            <a:ext cx="7763958" cy="18385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04862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 err="1"/>
              <a:t>החוליה</a:t>
            </a:r>
            <a:r>
              <a:rPr lang="he-IL" dirty="0"/>
              <a:t> הגנרית </a:t>
            </a:r>
            <a:r>
              <a:rPr lang="en-US" dirty="0"/>
              <a:t>Node&lt;T&gt;</a:t>
            </a:r>
            <a:br>
              <a:rPr lang="he-IL" dirty="0"/>
            </a:br>
            <a:endParaRPr lang="he-IL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1C8A501-72C9-E3B2-B1BD-46B1F4748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760" y="2055812"/>
            <a:ext cx="7367789" cy="4125531"/>
          </a:xfrm>
        </p:spPr>
      </p:pic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0"/>
            <a:ext cx="2488167" cy="1918007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920CD2F-F4E4-DEDD-17F9-51BD6CA4A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575" y="2055812"/>
            <a:ext cx="4260665" cy="41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30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26E098-E26F-7E65-3F3C-5D963825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שימוש בחוליה הגנרית</a:t>
            </a:r>
            <a:endParaRPr lang="en-I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4C838C-6FF8-BCB6-5B11-0624FBC7D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024"/>
            <a:ext cx="10515600" cy="5056632"/>
          </a:xfrm>
        </p:spPr>
        <p:txBody>
          <a:bodyPr/>
          <a:lstStyle/>
          <a:p>
            <a:r>
              <a:rPr lang="he-IL" dirty="0"/>
              <a:t>ניצור שרשרת של 10 חוליות גנריות (עם ערך מספר שלם </a:t>
            </a:r>
            <a:r>
              <a:rPr lang="en-US" dirty="0"/>
              <a:t>10,20,30 …</a:t>
            </a:r>
            <a:r>
              <a:rPr lang="he-IL" dirty="0"/>
              <a:t>)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he-IL" dirty="0"/>
              <a:t>שימו לה שבעת יצירת </a:t>
            </a:r>
            <a:r>
              <a:rPr lang="he-IL" dirty="0" err="1"/>
              <a:t>החוליה</a:t>
            </a:r>
            <a:r>
              <a:rPr lang="he-IL" dirty="0"/>
              <a:t> אנחנו חייבים להחליף את </a:t>
            </a:r>
            <a:r>
              <a:rPr lang="en-US" dirty="0"/>
              <a:t>T</a:t>
            </a:r>
            <a:r>
              <a:rPr lang="he-IL" dirty="0"/>
              <a:t> בסוג הערך שבחרנו.</a:t>
            </a:r>
          </a:p>
          <a:p>
            <a:r>
              <a:rPr lang="he-IL" dirty="0"/>
              <a:t>הפקודה </a:t>
            </a:r>
            <a:r>
              <a:rPr lang="en-US" dirty="0"/>
              <a:t>new</a:t>
            </a:r>
            <a:r>
              <a:rPr lang="he-IL" dirty="0"/>
              <a:t> מחזירה מצביע לאובייקט. על כן, ניתן להשתמש בה כך שהמצביע נשמר ישירות ב </a:t>
            </a:r>
            <a:r>
              <a:rPr lang="en-US" dirty="0"/>
              <a:t>next</a:t>
            </a:r>
            <a:r>
              <a:rPr lang="he-IL" dirty="0"/>
              <a:t>. ניתן היה לכתוב פקודה זו בשתי שורות:</a:t>
            </a:r>
          </a:p>
          <a:p>
            <a:endParaRPr lang="en-IL" dirty="0"/>
          </a:p>
        </p:txBody>
      </p:sp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64705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08D166-74C2-1200-232B-733B3260A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812" y="1907885"/>
            <a:ext cx="4296375" cy="1848108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549E8032-0416-4B3B-4754-AA9F904F5C91}"/>
              </a:ext>
            </a:extLst>
          </p:cNvPr>
          <p:cNvSpPr/>
          <p:nvPr/>
        </p:nvSpPr>
        <p:spPr>
          <a:xfrm>
            <a:off x="4590288" y="2980944"/>
            <a:ext cx="3410712" cy="246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1778CC-F239-2744-AE07-C607517E46EB}"/>
              </a:ext>
            </a:extLst>
          </p:cNvPr>
          <p:cNvCxnSpPr>
            <a:cxnSpLocks/>
          </p:cNvCxnSpPr>
          <p:nvPr/>
        </p:nvCxnSpPr>
        <p:spPr>
          <a:xfrm flipH="1" flipV="1">
            <a:off x="6067915" y="3227832"/>
            <a:ext cx="3410712" cy="169164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0D0ACED9-871F-74EF-D03B-821D60C2C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528" y="5654104"/>
            <a:ext cx="3610479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5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כתוב </a:t>
            </a:r>
            <a:r>
              <a:rPr lang="he-IL"/>
              <a:t>את המחלקה </a:t>
            </a:r>
            <a:r>
              <a:rPr lang="en-US"/>
              <a:t>Node</a:t>
            </a:r>
            <a:r>
              <a:rPr lang="en-US" dirty="0"/>
              <a:t>&lt;T&gt;</a:t>
            </a:r>
            <a:br>
              <a:rPr lang="he-IL" dirty="0"/>
            </a:br>
            <a:endParaRPr lang="he-IL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1C8A501-72C9-E3B2-B1BD-46B1F4748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760" y="2055812"/>
            <a:ext cx="7367789" cy="4125531"/>
          </a:xfrm>
        </p:spPr>
      </p:pic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0"/>
            <a:ext cx="2488167" cy="1918007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920CD2F-F4E4-DEDD-17F9-51BD6CA4A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575" y="2055812"/>
            <a:ext cx="4260665" cy="41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27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26E098-E26F-7E65-3F3C-5D963825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1338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תרגיל – כתוב פעולה המקבלת רשימה גנרית ומדפיסה אותה</a:t>
            </a:r>
            <a:endParaRPr lang="en-I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4C838C-6FF8-BCB6-5B11-0624FBC7D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024"/>
            <a:ext cx="10515600" cy="4841939"/>
          </a:xfrm>
        </p:spPr>
        <p:txBody>
          <a:bodyPr>
            <a:normAutofit lnSpcReduction="10000"/>
          </a:bodyPr>
          <a:lstStyle/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הדפסת רשימה מתבצעת בלולאה </a:t>
            </a:r>
            <a:r>
              <a:rPr lang="en-US" dirty="0"/>
              <a:t>while</a:t>
            </a:r>
            <a:r>
              <a:rPr lang="he-IL" dirty="0"/>
              <a:t> המתחילה בראש הרשימה ומסתיימת כאשר מגיעים ל </a:t>
            </a:r>
            <a:r>
              <a:rPr lang="en-US" dirty="0"/>
              <a:t>null</a:t>
            </a:r>
            <a:r>
              <a:rPr lang="he-IL" dirty="0"/>
              <a:t>.</a:t>
            </a:r>
          </a:p>
          <a:p>
            <a:r>
              <a:rPr lang="he-IL" dirty="0"/>
              <a:t>שימו לב כי בפעולה זו לא שמרנו על ראש הרשימה כיוון שנשאר עותק בפעולה המזמנת, ולא היינו צריכים לעשות פעולות נוספות על הרשימה. </a:t>
            </a:r>
          </a:p>
          <a:p>
            <a:r>
              <a:rPr lang="he-IL" dirty="0"/>
              <a:t>אם היינו צריכים לעשות פעולות נוספות על הרשימה בפעולה הנוכחית – חובה היה לשמור עותק של המצביע לראש הרשימה.</a:t>
            </a:r>
          </a:p>
          <a:p>
            <a:endParaRPr lang="he-IL" dirty="0"/>
          </a:p>
          <a:p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DD195F-F20C-3E1A-897B-707F7AF19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986" y="1545336"/>
            <a:ext cx="5568027" cy="200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10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26E098-E26F-7E65-3F3C-5D963825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תרגיל 1 – פעולות בסיסיות על רשימה</a:t>
            </a:r>
            <a:endParaRPr lang="en-I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4C838C-6FF8-BCB6-5B11-0624FBC7D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904"/>
            <a:ext cx="10515600" cy="4965059"/>
          </a:xfrm>
        </p:spPr>
        <p:txBody>
          <a:bodyPr/>
          <a:lstStyle/>
          <a:p>
            <a:r>
              <a:rPr lang="he-IL" dirty="0"/>
              <a:t>כתוב את המחלקה </a:t>
            </a:r>
            <a:r>
              <a:rPr lang="en-US" dirty="0"/>
              <a:t>Note&lt;T&gt;</a:t>
            </a:r>
            <a:r>
              <a:rPr lang="he-IL" dirty="0"/>
              <a:t> בפרויקט שלך. פתור את התרגילים בעזרת מחלקה זו.</a:t>
            </a:r>
          </a:p>
          <a:p>
            <a:endParaRPr lang="en-IL" dirty="0"/>
          </a:p>
        </p:txBody>
      </p:sp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64705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78754D94-7065-342A-5772-B63E145B9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868652"/>
              </p:ext>
            </p:extLst>
          </p:nvPr>
        </p:nvGraphicFramePr>
        <p:xfrm>
          <a:off x="735008" y="2058682"/>
          <a:ext cx="10721984" cy="437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175539">
                  <a:extLst>
                    <a:ext uri="{9D8B030D-6E8A-4147-A177-3AD203B41FA5}">
                      <a16:colId xmlns:a16="http://schemas.microsoft.com/office/drawing/2014/main" val="993204449"/>
                    </a:ext>
                  </a:extLst>
                </a:gridCol>
                <a:gridCol w="7546445">
                  <a:extLst>
                    <a:ext uri="{9D8B030D-6E8A-4147-A177-3AD203B41FA5}">
                      <a16:colId xmlns:a16="http://schemas.microsoft.com/office/drawing/2014/main" val="1288840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e-IL" sz="1600" dirty="0"/>
                        <a:t>שם הפעולה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dirty="0"/>
                        <a:t>תיאור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253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CreateList</a:t>
                      </a:r>
                      <a:r>
                        <a:rPr lang="en-US" sz="1400" dirty="0"/>
                        <a:t>(int [] </a:t>
                      </a:r>
                      <a:r>
                        <a:rPr lang="en-US" sz="1400" dirty="0" err="1"/>
                        <a:t>arr</a:t>
                      </a:r>
                      <a:r>
                        <a:rPr lang="en-US" sz="1400" dirty="0"/>
                        <a:t>)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400" dirty="0"/>
                        <a:t>פעולה היוצרת רשימה מקושרת של החוליות שהתקבלו במערך ומחזירה את ראש הרשימה.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950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 err="1"/>
                        <a:t>PrintList</a:t>
                      </a:r>
                      <a:r>
                        <a:rPr lang="en-US" sz="1400" dirty="0"/>
                        <a:t> (Node&lt;T&gt; head)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400" dirty="0"/>
                        <a:t>הפעולה מקבלת מצביע לתחילת רשימה והיא מדפיסה את ערכי הרשימה בשורה אחת עם רווחים.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52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/>
                        <a:t>Length(Node&lt;T&gt; head)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400" dirty="0"/>
                        <a:t>הפעולה מקבלת מצביע לתחילת רשימה ומחזירה את מספר אברי הרשימה.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26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 err="1"/>
                        <a:t>GetNode</a:t>
                      </a:r>
                      <a:r>
                        <a:rPr lang="en-US" sz="1400" dirty="0"/>
                        <a:t>(Node&lt;T&gt; head, int n)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400" dirty="0"/>
                        <a:t>הפעולה מחזירה את האיבר במיקום </a:t>
                      </a:r>
                      <a:r>
                        <a:rPr lang="en-US" sz="1400" dirty="0"/>
                        <a:t>n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81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/>
                        <a:t>Add (Node&lt;T&gt; head, Node&lt;T&gt; node)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400" dirty="0"/>
                        <a:t>הפעולה מקבלת מצביע לראש הרשימה, ומוסיפה את האיבר בתחילת הרשימה.</a:t>
                      </a:r>
                      <a:r>
                        <a:rPr lang="en-US" sz="1400" dirty="0"/>
                        <a:t> </a:t>
                      </a:r>
                      <a:r>
                        <a:rPr lang="he-IL" sz="1400" strike="noStrike" dirty="0"/>
                        <a:t>מחזירה את ראש הרשימה החדש.</a:t>
                      </a:r>
                      <a:endParaRPr lang="en-IL" sz="1400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747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/>
                        <a:t>Add (Node&lt;T&gt; head, int value, int n)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400" dirty="0"/>
                        <a:t>הפעולה מקבלת מצביע לתחילת רשימה, ערך, ומיקום – ומוסיפה חוליה עם הערך במיקום המבוקש (יש להיזהר לא לנתק את המשך הרשימה)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113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 err="1"/>
                        <a:t>AddLast</a:t>
                      </a:r>
                      <a:r>
                        <a:rPr lang="en-US" sz="1400" dirty="0"/>
                        <a:t>(Node&lt;T&gt; </a:t>
                      </a:r>
                      <a:r>
                        <a:rPr lang="en-US" sz="1400" dirty="0" err="1"/>
                        <a:t>lst</a:t>
                      </a:r>
                      <a:r>
                        <a:rPr lang="en-US" sz="1400" dirty="0"/>
                        <a:t>, Node&lt;T&gt; node)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400" dirty="0"/>
                        <a:t>הפעולה מוסיפה את </a:t>
                      </a:r>
                      <a:r>
                        <a:rPr lang="he-IL" sz="1400" dirty="0" err="1"/>
                        <a:t>החוליה</a:t>
                      </a:r>
                      <a:r>
                        <a:rPr lang="he-IL" sz="1400" dirty="0"/>
                        <a:t> בסוף הרשימה.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792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/>
                        <a:t>Pop (Node&lt;T&gt; head)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400" dirty="0"/>
                        <a:t>הפעולה מוחקת את האיבר הראשון ברשימה ומחזירה את ראש הרשימה החדש.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510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/>
                        <a:t>Del (Node&lt;T&gt; head, int n)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400" dirty="0"/>
                        <a:t>הפעולה מוחקת את האיבר במקום </a:t>
                      </a:r>
                      <a:r>
                        <a:rPr lang="en-US" sz="1400" dirty="0"/>
                        <a:t>n</a:t>
                      </a:r>
                      <a:r>
                        <a:rPr lang="he-IL" sz="1400" dirty="0"/>
                        <a:t> (שימו לב שלא לנתק את המשך השרשרת).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41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/>
                        <a:t>Sum(Node&lt;</a:t>
                      </a:r>
                      <a:r>
                        <a:rPr lang="en-IL" sz="1400" dirty="0"/>
                        <a:t>int</a:t>
                      </a:r>
                      <a:r>
                        <a:rPr lang="en-US" sz="1400" dirty="0"/>
                        <a:t>&gt; head)</a:t>
                      </a:r>
                      <a:endParaRPr lang="en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400" dirty="0"/>
                        <a:t>הפעולה מחזירה את סכום הערכים של הרשימה (ניתן להניח שהערכים ניתנים </a:t>
                      </a:r>
                      <a:r>
                        <a:rPr lang="he-IL" sz="1400" dirty="0" err="1"/>
                        <a:t>לסכימה</a:t>
                      </a:r>
                      <a:r>
                        <a:rPr lang="he-IL" sz="1400" dirty="0"/>
                        <a:t>).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888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004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26E098-E26F-7E65-3F3C-5D963825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תרגיל 2 – פעולות מתקדמות עם רשימות</a:t>
            </a:r>
            <a:endParaRPr lang="en-IL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6072E5B4-5A73-87A1-8D00-1ECEE7BEA0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934407"/>
              </p:ext>
            </p:extLst>
          </p:nvPr>
        </p:nvGraphicFramePr>
        <p:xfrm>
          <a:off x="838200" y="1825625"/>
          <a:ext cx="10515600" cy="49580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849880">
                  <a:extLst>
                    <a:ext uri="{9D8B030D-6E8A-4147-A177-3AD203B41FA5}">
                      <a16:colId xmlns:a16="http://schemas.microsoft.com/office/drawing/2014/main" val="910726445"/>
                    </a:ext>
                  </a:extLst>
                </a:gridCol>
                <a:gridCol w="7665720">
                  <a:extLst>
                    <a:ext uri="{9D8B030D-6E8A-4147-A177-3AD203B41FA5}">
                      <a16:colId xmlns:a16="http://schemas.microsoft.com/office/drawing/2014/main" val="4215251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e-IL" sz="1600" dirty="0"/>
                        <a:t>שם הפעולה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dirty="0"/>
                        <a:t>תיאור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61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 err="1"/>
                        <a:t>CopyList</a:t>
                      </a:r>
                      <a:r>
                        <a:rPr lang="en-US" sz="1600" dirty="0"/>
                        <a:t> (Node&lt;</a:t>
                      </a:r>
                      <a:r>
                        <a:rPr lang="en-IL" sz="1600" dirty="0"/>
                        <a:t>string</a:t>
                      </a:r>
                      <a:r>
                        <a:rPr lang="en-US" sz="1600" dirty="0"/>
                        <a:t>&gt; head)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dirty="0"/>
                        <a:t>הפעולה משכפלת את הרשימה ומחזירה מצביע לרשימה חדשה.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431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Reverse (Node&lt;</a:t>
                      </a:r>
                      <a:r>
                        <a:rPr lang="en-IL" sz="1600" dirty="0"/>
                        <a:t>double</a:t>
                      </a:r>
                      <a:r>
                        <a:rPr lang="en-US" sz="1600" dirty="0"/>
                        <a:t>&gt; head)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dirty="0"/>
                        <a:t>הפעולה מחזירה מצביע לרשימה חדשה בסדר הפוך (</a:t>
                      </a:r>
                      <a:r>
                        <a:rPr lang="he-IL" sz="1600" dirty="0" err="1"/>
                        <a:t>החוליה</a:t>
                      </a:r>
                      <a:r>
                        <a:rPr lang="he-IL" sz="1600" dirty="0"/>
                        <a:t> האחרונה היא הראשונה)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084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Index (Node&lt;</a:t>
                      </a:r>
                      <a:r>
                        <a:rPr lang="en-IL" sz="1600" dirty="0"/>
                        <a:t>int</a:t>
                      </a:r>
                      <a:r>
                        <a:rPr lang="en-US" sz="1600" dirty="0"/>
                        <a:t>&gt; head, </a:t>
                      </a:r>
                      <a:r>
                        <a:rPr lang="en-IL" sz="1600" dirty="0"/>
                        <a:t>int</a:t>
                      </a:r>
                      <a:r>
                        <a:rPr lang="en-US" sz="1600" dirty="0"/>
                        <a:t> value)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dirty="0"/>
                        <a:t>הפעולה מחפשת את האיבר הראשון עם הערך שהתקבל ומחזירה את המיקום שלו ברשימה</a:t>
                      </a:r>
                      <a:r>
                        <a:rPr lang="en-US" sz="1600" dirty="0"/>
                        <a:t>.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568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Find (Node&lt;</a:t>
                      </a:r>
                      <a:r>
                        <a:rPr lang="en-IL" sz="1600" dirty="0"/>
                        <a:t>string</a:t>
                      </a:r>
                      <a:r>
                        <a:rPr lang="en-US" sz="1600" dirty="0"/>
                        <a:t>&gt; head, </a:t>
                      </a:r>
                      <a:r>
                        <a:rPr lang="en-IL" sz="1600" dirty="0"/>
                        <a:t>string</a:t>
                      </a:r>
                      <a:r>
                        <a:rPr lang="en-US" sz="1600" dirty="0"/>
                        <a:t> value)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dirty="0"/>
                        <a:t>הפעולה מחפשת את האיבר הראשון עם הערך שהתקבל ומחזירה את האיבר (מצביע לאיבר).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779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Slice (Node&lt;</a:t>
                      </a:r>
                      <a:r>
                        <a:rPr lang="en-IL" sz="1600" dirty="0"/>
                        <a:t>char</a:t>
                      </a:r>
                      <a:r>
                        <a:rPr lang="en-US" sz="1600" dirty="0"/>
                        <a:t>&gt; head, int start, int end)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dirty="0"/>
                        <a:t>הפעולה מחזירה תת רשימה של הרשימה שהתקבלה מן האיבר </a:t>
                      </a:r>
                      <a:r>
                        <a:rPr lang="en-US" sz="1600" dirty="0"/>
                        <a:t>start</a:t>
                      </a:r>
                      <a:r>
                        <a:rPr lang="he-IL" sz="1600" dirty="0"/>
                        <a:t> ועד לאיבר </a:t>
                      </a:r>
                      <a:r>
                        <a:rPr lang="en-US" sz="1600" dirty="0"/>
                        <a:t>end</a:t>
                      </a:r>
                      <a:r>
                        <a:rPr lang="he-IL" sz="1600" dirty="0"/>
                        <a:t>. (אין צורך לבדוק תקינות האינדקסים).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6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Equal(Node&lt;</a:t>
                      </a:r>
                      <a:r>
                        <a:rPr lang="en-IL" sz="1600" dirty="0"/>
                        <a:t>int</a:t>
                      </a:r>
                      <a:r>
                        <a:rPr lang="en-US" sz="1600" dirty="0"/>
                        <a:t>&gt; L1, Node&lt;</a:t>
                      </a:r>
                      <a:r>
                        <a:rPr lang="en-IL" sz="1600" dirty="0"/>
                        <a:t>int</a:t>
                      </a:r>
                      <a:r>
                        <a:rPr lang="en-US" sz="1600" dirty="0"/>
                        <a:t>&gt; L2)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dirty="0"/>
                        <a:t>הפעולה מקבלת שתי רשימות ובודקת אם הערכים שלהם זהים. אם כן, מחזירה אמת. אחרת שקר.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528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Union(Node&lt;</a:t>
                      </a:r>
                      <a:r>
                        <a:rPr lang="en-IL" sz="1600" dirty="0"/>
                        <a:t>double</a:t>
                      </a:r>
                      <a:r>
                        <a:rPr lang="en-US" sz="1600" dirty="0"/>
                        <a:t>&gt; L1, Node&lt;</a:t>
                      </a:r>
                      <a:r>
                        <a:rPr lang="en-IL" sz="1600" dirty="0"/>
                        <a:t>double</a:t>
                      </a:r>
                      <a:r>
                        <a:rPr lang="en-US" sz="1600" dirty="0"/>
                        <a:t>&gt; L2)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dirty="0"/>
                        <a:t>הפעולה מקבלת שתי רשימות ומחזירה רשימה מאוחדת </a:t>
                      </a:r>
                      <a:r>
                        <a:rPr lang="en-US" sz="1600" dirty="0"/>
                        <a:t>L2</a:t>
                      </a:r>
                      <a:r>
                        <a:rPr lang="he-IL" sz="1600" dirty="0"/>
                        <a:t> אחרי </a:t>
                      </a:r>
                      <a:r>
                        <a:rPr lang="en-US" sz="1600" dirty="0"/>
                        <a:t>L1</a:t>
                      </a:r>
                      <a:r>
                        <a:rPr lang="he-IL" sz="1600" dirty="0"/>
                        <a:t>. אין צורך להעתיק את האיברים (שימוש באיברים הקיימים).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975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Intersect(Node&lt;</a:t>
                      </a:r>
                      <a:r>
                        <a:rPr lang="en-IL" sz="1600" dirty="0"/>
                        <a:t>string</a:t>
                      </a:r>
                      <a:r>
                        <a:rPr lang="en-US" sz="1600" dirty="0"/>
                        <a:t>&gt; L1, Node&lt;</a:t>
                      </a:r>
                      <a:r>
                        <a:rPr lang="en-IL" sz="1600" dirty="0"/>
                        <a:t>string</a:t>
                      </a:r>
                      <a:r>
                        <a:rPr lang="en-US" sz="1600" dirty="0"/>
                        <a:t>&gt; L2)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dirty="0"/>
                        <a:t>הפעולה מקבלת שתי רשימות ומחזירה רשימה שבה האיברים בעלי הערך הזהה.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20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Unique(Node&lt;</a:t>
                      </a:r>
                      <a:r>
                        <a:rPr lang="en-IL" sz="1600" dirty="0"/>
                        <a:t>int</a:t>
                      </a:r>
                      <a:r>
                        <a:rPr lang="en-US" sz="1600" dirty="0"/>
                        <a:t>&gt; head)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dirty="0"/>
                        <a:t>הפעולה מוחקת מן הרשימה את האיברים הכפולים ומשאירה רק איבר אחד מכל ערך.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566194"/>
                  </a:ext>
                </a:extLst>
              </a:tr>
            </a:tbl>
          </a:graphicData>
        </a:graphic>
      </p:graphicFrame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64705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95622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26E098-E26F-7E65-3F3C-5D963825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099"/>
            <a:ext cx="10515600" cy="485266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המשך תרגיל 2 – פעולות מתקדמות עם רשימות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3">
                <a:extLst>
                  <a:ext uri="{FF2B5EF4-FFF2-40B4-BE49-F238E27FC236}">
                    <a16:creationId xmlns:a16="http://schemas.microsoft.com/office/drawing/2014/main" id="{6072E5B4-5A73-87A1-8D00-1ECEE7BEA0D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4946876"/>
                  </p:ext>
                </p:extLst>
              </p:nvPr>
            </p:nvGraphicFramePr>
            <p:xfrm>
              <a:off x="920496" y="905256"/>
              <a:ext cx="10515600" cy="5760720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2849880">
                      <a:extLst>
                        <a:ext uri="{9D8B030D-6E8A-4147-A177-3AD203B41FA5}">
                          <a16:colId xmlns:a16="http://schemas.microsoft.com/office/drawing/2014/main" val="910726445"/>
                        </a:ext>
                      </a:extLst>
                    </a:gridCol>
                    <a:gridCol w="7665720">
                      <a:extLst>
                        <a:ext uri="{9D8B030D-6E8A-4147-A177-3AD203B41FA5}">
                          <a16:colId xmlns:a16="http://schemas.microsoft.com/office/drawing/2014/main" val="4215251384"/>
                        </a:ext>
                      </a:extLst>
                    </a:gridCol>
                  </a:tblGrid>
                  <a:tr h="359596"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שם הפעולה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תיאור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4610185"/>
                      </a:ext>
                    </a:extLst>
                  </a:tr>
                  <a:tr h="629294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/>
                            <a:t>Max(Node&lt;</a:t>
                          </a:r>
                          <a:r>
                            <a:rPr lang="en-IL" dirty="0"/>
                            <a:t>int</a:t>
                          </a:r>
                          <a:r>
                            <a:rPr lang="en-US" dirty="0"/>
                            <a:t>&gt; head)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מחזירה את האיבר עם הערך הגדול ביותר. אתם יכולים להניח כי ניתן להשוות בין הערכים באמצעות </a:t>
                          </a:r>
                          <a:r>
                            <a:rPr lang="en-US" dirty="0"/>
                            <a:t>&lt;</a:t>
                          </a:r>
                          <a:r>
                            <a:rPr lang="he-IL" dirty="0"/>
                            <a:t>.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7431121"/>
                      </a:ext>
                    </a:extLst>
                  </a:tr>
                  <a:tr h="629294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 err="1"/>
                            <a:t>UnionSort</a:t>
                          </a:r>
                          <a:r>
                            <a:rPr lang="en-US" dirty="0"/>
                            <a:t>(Node&lt;</a:t>
                          </a:r>
                          <a:r>
                            <a:rPr lang="en-IL" dirty="0"/>
                            <a:t>double</a:t>
                          </a:r>
                          <a:r>
                            <a:rPr lang="en-US" dirty="0"/>
                            <a:t>&gt;L1, Node&lt;</a:t>
                          </a:r>
                          <a:r>
                            <a:rPr lang="en-IL" dirty="0"/>
                            <a:t>double</a:t>
                          </a:r>
                          <a:r>
                            <a:rPr lang="en-US" dirty="0"/>
                            <a:t>&gt; L2)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מקבלת שתי רשימות ממוינות (אתם יכולים להניח כי ניתן להשוות בין הערכים באמצעות &gt; או &lt;). הפעולה מחזירה רשימה ממוזגת וממוינת (אין להעתיק איברים).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0084331"/>
                      </a:ext>
                    </a:extLst>
                  </a:tr>
                  <a:tr h="629294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 err="1"/>
                            <a:t>commonValue</a:t>
                          </a:r>
                          <a:r>
                            <a:rPr lang="he-IL" dirty="0"/>
                            <a:t> </a:t>
                          </a:r>
                          <a:r>
                            <a:rPr lang="en-US" dirty="0"/>
                            <a:t>(Node&lt;int&gt; head)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מקבלת רשימה של </a:t>
                          </a:r>
                          <a:r>
                            <a:rPr lang="en-US" dirty="0"/>
                            <a:t>int</a:t>
                          </a:r>
                          <a:r>
                            <a:rPr lang="he-IL" dirty="0"/>
                            <a:t> שהערכים בין 1 ל- 100. הפעולה תחזיר את המספר השכיח ביותר (שמופיע הכי הרבה פעמים). ניתן להשתמש במבנה נתונים נוסף.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0568878"/>
                      </a:ext>
                    </a:extLst>
                  </a:tr>
                  <a:tr h="629294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Consistent(Node&lt;</a:t>
                          </a:r>
                          <a:r>
                            <a:rPr lang="en-IL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int</a:t>
                          </a: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&gt; head)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מקבלת רשימה ומחזירה אמת היא ערכי האיברים עולים ממש או יורדים ממש. אתם יכולים להניח כי ניתן לבצע השוואה בין האיברים אמצעות </a:t>
                          </a:r>
                          <a:r>
                            <a:rPr lang="en-US" dirty="0"/>
                            <a:t>&lt;</a:t>
                          </a:r>
                          <a:r>
                            <a:rPr lang="he-IL" dirty="0"/>
                            <a:t> או &lt;).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4779902"/>
                      </a:ext>
                    </a:extLst>
                  </a:tr>
                  <a:tr h="629294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 err="1"/>
                            <a:t>isPalidrome</a:t>
                          </a:r>
                          <a:r>
                            <a:rPr lang="en-US" dirty="0"/>
                            <a:t>(Node&lt;</a:t>
                          </a:r>
                          <a:r>
                            <a:rPr lang="en-IL" dirty="0"/>
                            <a:t>char</a:t>
                          </a:r>
                          <a:r>
                            <a:rPr lang="en-US" dirty="0"/>
                            <a:t>&gt; head)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מקבלת רשימה ומחזירה </a:t>
                          </a:r>
                          <a:r>
                            <a:rPr lang="en-US" dirty="0"/>
                            <a:t>true</a:t>
                          </a:r>
                          <a:r>
                            <a:rPr lang="he-IL" dirty="0"/>
                            <a:t> אם היא </a:t>
                          </a:r>
                          <a:r>
                            <a:rPr lang="he-IL" dirty="0" err="1"/>
                            <a:t>פולינדרום</a:t>
                          </a:r>
                          <a:r>
                            <a:rPr lang="he-IL" dirty="0"/>
                            <a:t>. רמז: ניתן להשתמש בשתי פעולות קודמות שכתבתם והתשובה מסכמת בשלוש שורות.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536567"/>
                      </a:ext>
                    </a:extLst>
                  </a:tr>
                  <a:tr h="629294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/>
                            <a:t>Contains(Node&lt;</a:t>
                          </a:r>
                          <a:r>
                            <a:rPr lang="en-IL" dirty="0"/>
                            <a:t>int</a:t>
                          </a:r>
                          <a:r>
                            <a:rPr lang="en-US" dirty="0"/>
                            <a:t>&gt; L1, Node&lt;</a:t>
                          </a:r>
                          <a:r>
                            <a:rPr lang="en-IL" dirty="0"/>
                            <a:t>int</a:t>
                          </a:r>
                          <a:r>
                            <a:rPr lang="en-US" dirty="0"/>
                            <a:t>&gt; L2)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מקבלת שתי רשימות ומחזירה אמת אם רשימה </a:t>
                          </a:r>
                          <a:r>
                            <a:rPr lang="en-US" dirty="0"/>
                            <a:t>L2</a:t>
                          </a:r>
                          <a:r>
                            <a:rPr lang="he-IL" dirty="0"/>
                            <a:t> מוכלת ב </a:t>
                          </a:r>
                          <a:r>
                            <a:rPr lang="en-US" dirty="0"/>
                            <a:t>L1</a:t>
                          </a:r>
                          <a:r>
                            <a:rPr lang="he-IL" dirty="0"/>
                            <a:t>.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6528822"/>
                      </a:ext>
                    </a:extLst>
                  </a:tr>
                  <a:tr h="629294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/>
                            <a:t>Zipper (Node&lt;</a:t>
                          </a:r>
                          <a:r>
                            <a:rPr lang="en-IL" dirty="0"/>
                            <a:t>string</a:t>
                          </a:r>
                          <a:r>
                            <a:rPr lang="en-US" dirty="0"/>
                            <a:t>&gt; L1, Node&lt;</a:t>
                          </a:r>
                          <a:r>
                            <a:rPr lang="en-IL" dirty="0"/>
                            <a:t>string</a:t>
                          </a:r>
                          <a:r>
                            <a:rPr lang="en-US" dirty="0"/>
                            <a:t>&gt; L2)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מקבלת שתי רשימות ומאחדת אותן לרשימה אחת בצורת </a:t>
                          </a:r>
                          <a:r>
                            <a:rPr lang="he-IL" dirty="0" err="1"/>
                            <a:t>ריצ'רצ</a:t>
                          </a:r>
                          <a:r>
                            <a:rPr lang="he-IL" dirty="0"/>
                            <a:t> (איבר מ </a:t>
                          </a:r>
                          <a:r>
                            <a:rPr lang="en-US" dirty="0"/>
                            <a:t>L1</a:t>
                          </a:r>
                          <a:r>
                            <a:rPr lang="he-IL" dirty="0"/>
                            <a:t>, איבר מ </a:t>
                          </a:r>
                          <a:r>
                            <a:rPr lang="en-US" dirty="0"/>
                            <a:t>L2</a:t>
                          </a:r>
                          <a:r>
                            <a:rPr lang="he-IL" dirty="0"/>
                            <a:t> וחוזר חלילה).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975127"/>
                      </a:ext>
                    </a:extLst>
                  </a:tr>
                  <a:tr h="898991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800" dirty="0"/>
                            <a:t>Positive(Node&lt;double&gt;)</a:t>
                          </a:r>
                          <a:endParaRPr lang="en-I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sz="1800" dirty="0"/>
                            <a:t>פעולה המקבלת רשימה של מספרים ממשיים, יוצרת רשימה של המספרים החיובים מתוך הרשימה, מדפיסה (באמצעות </a:t>
                          </a:r>
                          <a:r>
                            <a:rPr lang="en-US" sz="1800" dirty="0" err="1"/>
                            <a:t>PrintList</a:t>
                          </a:r>
                          <a:r>
                            <a:rPr lang="en-US" sz="1800" dirty="0"/>
                            <a:t>()</a:t>
                          </a:r>
                          <a:r>
                            <a:rPr lang="he-IL" sz="1800" dirty="0"/>
                            <a:t>) את הרשימה החדשה ולאחריה את הרשימה המקורית, ומחזירה את הרשימה החדשה.</a:t>
                          </a:r>
                          <a:endParaRPr lang="en-IL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95069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3">
                <a:extLst>
                  <a:ext uri="{FF2B5EF4-FFF2-40B4-BE49-F238E27FC236}">
                    <a16:creationId xmlns:a16="http://schemas.microsoft.com/office/drawing/2014/main" id="{6072E5B4-5A73-87A1-8D00-1ECEE7BEA0D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4946876"/>
                  </p:ext>
                </p:extLst>
              </p:nvPr>
            </p:nvGraphicFramePr>
            <p:xfrm>
              <a:off x="920496" y="905256"/>
              <a:ext cx="10515600" cy="5760720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2849880">
                      <a:extLst>
                        <a:ext uri="{9D8B030D-6E8A-4147-A177-3AD203B41FA5}">
                          <a16:colId xmlns:a16="http://schemas.microsoft.com/office/drawing/2014/main" val="910726445"/>
                        </a:ext>
                      </a:extLst>
                    </a:gridCol>
                    <a:gridCol w="7665720">
                      <a:extLst>
                        <a:ext uri="{9D8B030D-6E8A-4147-A177-3AD203B41FA5}">
                          <a16:colId xmlns:a16="http://schemas.microsoft.com/office/drawing/2014/main" val="421525138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שם הפעולה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תיאור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461018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/>
                            <a:t>Max(Node&lt;</a:t>
                          </a:r>
                          <a:r>
                            <a:rPr lang="en-IL" dirty="0"/>
                            <a:t>int</a:t>
                          </a:r>
                          <a:r>
                            <a:rPr lang="en-US" dirty="0"/>
                            <a:t>&gt; head)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מחזירה את האיבר עם הערך הגדול ביותר. אתם יכולים להניח כי ניתן להשוות בין הערכים באמצעות </a:t>
                          </a:r>
                          <a:r>
                            <a:rPr lang="en-US" dirty="0"/>
                            <a:t>&lt;</a:t>
                          </a:r>
                          <a:r>
                            <a:rPr lang="he-IL" dirty="0"/>
                            <a:t>.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743112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 err="1"/>
                            <a:t>UnionSort</a:t>
                          </a:r>
                          <a:r>
                            <a:rPr lang="en-US" dirty="0"/>
                            <a:t>(Node&lt;</a:t>
                          </a:r>
                          <a:r>
                            <a:rPr lang="en-IL" dirty="0"/>
                            <a:t>double</a:t>
                          </a:r>
                          <a:r>
                            <a:rPr lang="en-US" dirty="0"/>
                            <a:t>&gt;L1, Node&lt;</a:t>
                          </a:r>
                          <a:r>
                            <a:rPr lang="en-IL" dirty="0"/>
                            <a:t>double</a:t>
                          </a:r>
                          <a:r>
                            <a:rPr lang="en-US" dirty="0"/>
                            <a:t>&gt; L2)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מקבלת שתי רשימות ממוינות (אתם יכולים להניח כי ניתן להשוות בין הערכים באמצעות &gt; או &lt;). הפעולה מחזירה רשימה ממוזגת וממוינת (אין להעתיק איברים).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008433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 err="1"/>
                            <a:t>commonValue</a:t>
                          </a:r>
                          <a:r>
                            <a:rPr lang="he-IL" dirty="0"/>
                            <a:t> </a:t>
                          </a:r>
                          <a:r>
                            <a:rPr lang="en-US" dirty="0"/>
                            <a:t>(Node&lt;int&gt; head)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מקבלת רשימה של </a:t>
                          </a:r>
                          <a:r>
                            <a:rPr lang="en-US" dirty="0"/>
                            <a:t>int</a:t>
                          </a:r>
                          <a:r>
                            <a:rPr lang="he-IL" dirty="0"/>
                            <a:t> שהערכים בין 1 ל- 100. הפעולה תחזיר את המספר השכיח ביותר (שמופיע הכי הרבה פעמים). ניתן להשתמש במבנה נתונים נוסף.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056887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Consistent(Node&lt;</a:t>
                          </a:r>
                          <a:r>
                            <a:rPr lang="en-IL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int</a:t>
                          </a: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&gt; head)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מקבלת רשימה ומחזירה אמת היא ערכי האיברים עולים ממש או יורדים ממש. אתם יכולים להניח כי ניתן לבצע השוואה בין האיברים אמצעות </a:t>
                          </a:r>
                          <a:r>
                            <a:rPr lang="en-US" dirty="0"/>
                            <a:t>&lt;</a:t>
                          </a:r>
                          <a:r>
                            <a:rPr lang="he-IL" dirty="0"/>
                            <a:t> או &lt;).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47799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 err="1"/>
                            <a:t>isPalidrome</a:t>
                          </a:r>
                          <a:r>
                            <a:rPr lang="en-US" dirty="0"/>
                            <a:t>(Node&lt;</a:t>
                          </a:r>
                          <a:r>
                            <a:rPr lang="en-IL" dirty="0"/>
                            <a:t>char</a:t>
                          </a:r>
                          <a:r>
                            <a:rPr lang="en-US" dirty="0"/>
                            <a:t>&gt; head)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מקבלת רשימה ומחזירה </a:t>
                          </a:r>
                          <a:r>
                            <a:rPr lang="en-US" dirty="0"/>
                            <a:t>true</a:t>
                          </a:r>
                          <a:r>
                            <a:rPr lang="he-IL" dirty="0"/>
                            <a:t> אם היא </a:t>
                          </a:r>
                          <a:r>
                            <a:rPr lang="he-IL" dirty="0" err="1"/>
                            <a:t>פולינדרום</a:t>
                          </a:r>
                          <a:r>
                            <a:rPr lang="he-IL" dirty="0"/>
                            <a:t>. רמז: ניתן להשתמש בשתי פעולות קודמות שכתבתם והתשובה מסכמת בשלוש שורות.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53656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/>
                            <a:t>Contains(Node&lt;</a:t>
                          </a:r>
                          <a:r>
                            <a:rPr lang="en-IL" dirty="0"/>
                            <a:t>int</a:t>
                          </a:r>
                          <a:r>
                            <a:rPr lang="en-US" dirty="0"/>
                            <a:t>&gt; L1, Node&lt;</a:t>
                          </a:r>
                          <a:r>
                            <a:rPr lang="en-IL" dirty="0"/>
                            <a:t>int</a:t>
                          </a:r>
                          <a:r>
                            <a:rPr lang="en-US" dirty="0"/>
                            <a:t>&gt; L2)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37391" t="-563810" r="-398" b="-25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52882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/>
                            <a:t>Zipper (Node&lt;</a:t>
                          </a:r>
                          <a:r>
                            <a:rPr lang="en-IL" dirty="0"/>
                            <a:t>string</a:t>
                          </a:r>
                          <a:r>
                            <a:rPr lang="en-US" dirty="0"/>
                            <a:t>&gt; L1, Node&lt;</a:t>
                          </a:r>
                          <a:r>
                            <a:rPr lang="en-IL" dirty="0"/>
                            <a:t>string</a:t>
                          </a:r>
                          <a:r>
                            <a:rPr lang="en-US" dirty="0"/>
                            <a:t>&gt; L2)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הפעולה מקבלת שתי רשימות ומאחדת אותן לרשימה אחת בצורת </a:t>
                          </a:r>
                          <a:r>
                            <a:rPr lang="he-IL" dirty="0" err="1"/>
                            <a:t>ריצ'רצ</a:t>
                          </a:r>
                          <a:r>
                            <a:rPr lang="he-IL" dirty="0"/>
                            <a:t> (איבר מ </a:t>
                          </a:r>
                          <a:r>
                            <a:rPr lang="en-US" dirty="0"/>
                            <a:t>L1</a:t>
                          </a:r>
                          <a:r>
                            <a:rPr lang="he-IL" dirty="0"/>
                            <a:t>, איבר מ </a:t>
                          </a:r>
                          <a:r>
                            <a:rPr lang="en-US" dirty="0"/>
                            <a:t>L2</a:t>
                          </a:r>
                          <a:r>
                            <a:rPr lang="he-IL" dirty="0"/>
                            <a:t> וחוזר חלילה).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97512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800" dirty="0"/>
                            <a:t>Positive(Node&lt;double&gt;)</a:t>
                          </a:r>
                          <a:endParaRPr lang="en-I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sz="1800" dirty="0"/>
                            <a:t>פעולה המקבלת רשימה של מספרים ממשיים, יוצרת רשימה של המספרים החיובים מתוך הרשימה, מדפיסה (באמצעות </a:t>
                          </a:r>
                          <a:r>
                            <a:rPr lang="en-US" sz="1800" dirty="0" err="1"/>
                            <a:t>PrintList</a:t>
                          </a:r>
                          <a:r>
                            <a:rPr lang="en-US" sz="1800" dirty="0"/>
                            <a:t>()</a:t>
                          </a:r>
                          <a:r>
                            <a:rPr lang="he-IL" sz="1800" dirty="0"/>
                            <a:t>) את הרשימה החדשה ולאחריה את הרשימה המקורית, ומחזירה את הרשימה החדשה.</a:t>
                          </a:r>
                          <a:endParaRPr lang="en-IL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950694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42" r="7107" b="22716"/>
          <a:stretch/>
        </p:blipFill>
        <p:spPr bwMode="auto">
          <a:xfrm>
            <a:off x="0" y="11902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50251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26E098-E26F-7E65-3F3C-5D963825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תרגילים מבגרויות</a:t>
            </a:r>
            <a:endParaRPr lang="en-IL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6072E5B4-5A73-87A1-8D00-1ECEE7BEA0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695224"/>
              </p:ext>
            </p:extLst>
          </p:nvPr>
        </p:nvGraphicFramePr>
        <p:xfrm>
          <a:off x="838200" y="1386713"/>
          <a:ext cx="10515600" cy="49479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849880">
                  <a:extLst>
                    <a:ext uri="{9D8B030D-6E8A-4147-A177-3AD203B41FA5}">
                      <a16:colId xmlns:a16="http://schemas.microsoft.com/office/drawing/2014/main" val="910726445"/>
                    </a:ext>
                  </a:extLst>
                </a:gridCol>
                <a:gridCol w="7665720">
                  <a:extLst>
                    <a:ext uri="{9D8B030D-6E8A-4147-A177-3AD203B41FA5}">
                      <a16:colId xmlns:a16="http://schemas.microsoft.com/office/drawing/2014/main" val="4215251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e-IL" dirty="0"/>
                        <a:t>שם הפעולה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תיאור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61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SumOfsubList</a:t>
                      </a:r>
                      <a:r>
                        <a:rPr lang="en-US" dirty="0"/>
                        <a:t>(Node&lt;int&gt; L)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הפעולה מקבלת שרשרת חוליות של מספרים שלמים ומחזירה שרשרת חדשה כך: עבור כל תת-רשימה של מספרים עולים ב </a:t>
                      </a:r>
                      <a:r>
                        <a:rPr lang="en-US" dirty="0"/>
                        <a:t>L</a:t>
                      </a:r>
                      <a:r>
                        <a:rPr lang="he-IL" dirty="0"/>
                        <a:t>, שבה כל מספר גדול ממש מקודמו, יופיע ברשימה החדשה איבר אחד עם סכום תת הסדרה. כל תת סדרה מסתיימת כאשר אחר האיבר האחרון מופיע איבר שווה או קטן לו.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431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isTripleList</a:t>
                      </a:r>
                      <a:r>
                        <a:rPr lang="en-US" dirty="0"/>
                        <a:t> (Node&lt;int&gt; L)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רשימה </a:t>
                      </a:r>
                      <a:r>
                        <a:rPr lang="en-US" dirty="0"/>
                        <a:t>L</a:t>
                      </a:r>
                      <a:r>
                        <a:rPr lang="he-IL" dirty="0"/>
                        <a:t> תיקרא משולשת אם היא מקיימת את שלושת התנאים הבאים: (א) הרשימה אינה ריקה; (ב) מספר האיברים בה מתחלק ב-3; (ג) האיברים בשליש הראשון של הרשימה מכילים את אותם ערכים שמכילים האיברים בשליש השני ובשליש השלישי ובאותו הסדר. כתוב פעולה המקבלת רשימה ומחזירה אמת אם היא משולשת אחרת שקר. </a:t>
                      </a:r>
                    </a:p>
                    <a:p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084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addSort</a:t>
                      </a:r>
                      <a:r>
                        <a:rPr lang="en-US" dirty="0"/>
                        <a:t>(Node&lt;int&gt; L, int n)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הפעולה מקבלת רשימה ממוינת של </a:t>
                      </a:r>
                      <a:r>
                        <a:rPr lang="en-US" dirty="0"/>
                        <a:t>int</a:t>
                      </a:r>
                      <a:r>
                        <a:rPr lang="he-IL" dirty="0"/>
                        <a:t> ומוסיפה איבר עם הערך החדש במקום המתאים. אם הערך קיים ניתן להוסיפו לפני או אחרי </a:t>
                      </a:r>
                      <a:r>
                        <a:rPr lang="he-IL" dirty="0" err="1"/>
                        <a:t>החוליה</a:t>
                      </a:r>
                      <a:r>
                        <a:rPr lang="he-IL" dirty="0"/>
                        <a:t> השווה לו.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568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sortList</a:t>
                      </a:r>
                      <a:r>
                        <a:rPr lang="en-US" dirty="0"/>
                        <a:t>(Node&lt;int&gt; L)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הפעולה מקבלת רשימה של מספרים שלמים ומחזירה רשימה חדשה ממוינת (הרשימה המקורית לא משתנה). ניתן וכדאי לעשות שימוש בפעולות קודמות.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779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213905"/>
                  </a:ext>
                </a:extLst>
              </a:tr>
            </a:tbl>
          </a:graphicData>
        </a:graphic>
      </p:graphicFrame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64705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93E7F8-8FC0-4CF8-0509-D2552D647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288" y="4206591"/>
            <a:ext cx="5959524" cy="29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00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593A-37E4-879B-13F1-72507E032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3256" y="365125"/>
            <a:ext cx="3874008" cy="686435"/>
          </a:xfrm>
        </p:spPr>
        <p:txBody>
          <a:bodyPr>
            <a:normAutofit fontScale="90000"/>
          </a:bodyPr>
          <a:lstStyle/>
          <a:p>
            <a:r>
              <a:rPr lang="he-IL" dirty="0"/>
              <a:t>שאלה מבגרות 2010</a:t>
            </a:r>
            <a:endParaRPr lang="en-IL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616F551-9B90-6726-7089-08CB2E7B57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97" y="365125"/>
            <a:ext cx="6964630" cy="569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E33CF6-3C8F-699D-67A4-561B142CF4B4}"/>
              </a:ext>
            </a:extLst>
          </p:cNvPr>
          <p:cNvSpPr txBox="1"/>
          <p:nvPr/>
        </p:nvSpPr>
        <p:spPr>
          <a:xfrm>
            <a:off x="1024128" y="6200013"/>
            <a:ext cx="8519922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FF"/>
                </a:solidFill>
                <a:effectLst/>
                <a:latin typeface="Varela Round" panose="020B0604020202020204" pitchFamily="2" charset="-79"/>
                <a:cs typeface="Varela Round" panose="020B0604020202020204" pitchFamily="2" charset="-79"/>
              </a:rPr>
              <a:t>public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arela Round" panose="020B0604020202020204" pitchFamily="2" charset="-79"/>
                <a:cs typeface="Varela Round" panose="020B0604020202020204" pitchFamily="2" charset="-79"/>
              </a:rPr>
              <a:t> </a:t>
            </a:r>
            <a:r>
              <a:rPr lang="en-US" sz="1800" b="0" i="0" u="none" strike="noStrike" dirty="0">
                <a:solidFill>
                  <a:srgbClr val="0000FF"/>
                </a:solidFill>
                <a:effectLst/>
                <a:latin typeface="Varela Round" panose="020B0604020202020204" pitchFamily="2" charset="-79"/>
                <a:cs typeface="Varela Round" panose="020B0604020202020204" pitchFamily="2" charset="-79"/>
              </a:rPr>
              <a:t>static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arela Round" panose="020B0604020202020204" pitchFamily="2" charset="-79"/>
                <a:cs typeface="Varela Round" panose="020B0604020202020204" pitchFamily="2" charset="-79"/>
              </a:rPr>
              <a:t> Node&lt;</a:t>
            </a:r>
            <a:r>
              <a:rPr lang="en-US" sz="1800" b="0" i="0" u="none" strike="noStrike" dirty="0" err="1">
                <a:solidFill>
                  <a:srgbClr val="0000FF"/>
                </a:solidFill>
                <a:effectLst/>
                <a:latin typeface="Varela Round" panose="020B0604020202020204" pitchFamily="2" charset="-79"/>
                <a:cs typeface="Varela Round" panose="020B0604020202020204" pitchFamily="2" charset="-79"/>
              </a:rPr>
              <a:t>RangeNode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arela Round" panose="020B0604020202020204" pitchFamily="2" charset="-79"/>
                <a:cs typeface="Varela Round" panose="020B0604020202020204" pitchFamily="2" charset="-79"/>
              </a:rPr>
              <a:t>&gt;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Varela Round" panose="020B0604020202020204" pitchFamily="2" charset="-79"/>
                <a:cs typeface="Varela Round" panose="020B0604020202020204" pitchFamily="2" charset="-79"/>
              </a:rPr>
              <a:t>CreateRangeList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arela Round" panose="020B0604020202020204" pitchFamily="2" charset="-79"/>
                <a:cs typeface="Varela Round" panose="020B0604020202020204" pitchFamily="2" charset="-79"/>
              </a:rPr>
              <a:t>(Node&lt;</a:t>
            </a:r>
            <a:r>
              <a:rPr lang="en-US" sz="1800" b="0" i="0" u="none" strike="noStrike" dirty="0">
                <a:solidFill>
                  <a:srgbClr val="0000FF"/>
                </a:solidFill>
                <a:effectLst/>
                <a:latin typeface="Varela Round" panose="020B0604020202020204" pitchFamily="2" charset="-79"/>
                <a:cs typeface="Varela Round" panose="020B0604020202020204" pitchFamily="2" charset="-79"/>
              </a:rPr>
              <a:t>int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arela Round" panose="020B0604020202020204" pitchFamily="2" charset="-79"/>
                <a:cs typeface="Varela Round" panose="020B0604020202020204" pitchFamily="2" charset="-79"/>
              </a:rPr>
              <a:t>&gt; </a:t>
            </a:r>
            <a:r>
              <a:rPr lang="en-US" sz="1600" b="0" i="0" u="none" strike="noStrike" dirty="0" err="1">
                <a:solidFill>
                  <a:srgbClr val="002060"/>
                </a:solidFill>
                <a:effectLst/>
                <a:latin typeface="Varela Round" panose="020B0604020202020204" pitchFamily="2" charset="-79"/>
                <a:cs typeface="Varela Round" panose="020B0604020202020204" pitchFamily="2" charset="-79"/>
              </a:rPr>
              <a:t>sourceList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arela Round" panose="020B0604020202020204" pitchFamily="2" charset="-79"/>
                <a:cs typeface="Varela Round" panose="020B0604020202020204" pitchFamily="2" charset="-79"/>
              </a:rPr>
              <a:t>)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135C41-758A-06B2-0090-EA092E1C1607}"/>
              </a:ext>
            </a:extLst>
          </p:cNvPr>
          <p:cNvSpPr txBox="1"/>
          <p:nvPr/>
        </p:nvSpPr>
        <p:spPr>
          <a:xfrm>
            <a:off x="7863840" y="1481328"/>
            <a:ext cx="382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ראה למטה חתימת הפעולה המבוקשת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48791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37D0-69E3-DB9D-2246-1C949C83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4032" y="365125"/>
            <a:ext cx="4239768" cy="1325563"/>
          </a:xfrm>
        </p:spPr>
        <p:txBody>
          <a:bodyPr/>
          <a:lstStyle/>
          <a:p>
            <a:r>
              <a:rPr lang="he-IL" dirty="0"/>
              <a:t>שאלה מבגרות 2020</a:t>
            </a:r>
            <a:endParaRPr lang="en-IL" dirty="0"/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D6895C21-4D76-B94E-0623-E9B67F5CD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452070"/>
            <a:ext cx="10957560" cy="474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703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057B-3675-27AB-2246-FEE9DB4D2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שאלה ברמת בגרות</a:t>
            </a:r>
            <a:endParaRPr lang="en-IL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3A9247-4D61-A495-0A0C-3046109EB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2603" y="1690688"/>
            <a:ext cx="8161633" cy="442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49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26E098-E26F-7E65-3F3C-5D963825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רקורסיה ברשימות</a:t>
            </a:r>
            <a:endParaRPr lang="en-IL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6072E5B4-5A73-87A1-8D00-1ECEE7BEA0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3927507"/>
              </p:ext>
            </p:extLst>
          </p:nvPr>
        </p:nvGraphicFramePr>
        <p:xfrm>
          <a:off x="838200" y="1265554"/>
          <a:ext cx="10515600" cy="52273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849880">
                  <a:extLst>
                    <a:ext uri="{9D8B030D-6E8A-4147-A177-3AD203B41FA5}">
                      <a16:colId xmlns:a16="http://schemas.microsoft.com/office/drawing/2014/main" val="910726445"/>
                    </a:ext>
                  </a:extLst>
                </a:gridCol>
                <a:gridCol w="7665720">
                  <a:extLst>
                    <a:ext uri="{9D8B030D-6E8A-4147-A177-3AD203B41FA5}">
                      <a16:colId xmlns:a16="http://schemas.microsoft.com/office/drawing/2014/main" val="4215251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e-IL" dirty="0"/>
                        <a:t>שם הפעולה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תיאור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61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RecursionPrint</a:t>
                      </a:r>
                      <a:r>
                        <a:rPr lang="en-US" dirty="0"/>
                        <a:t>(Node&lt;</a:t>
                      </a:r>
                      <a:r>
                        <a:rPr lang="en-IL" dirty="0"/>
                        <a:t>int</a:t>
                      </a:r>
                      <a:r>
                        <a:rPr lang="en-US" dirty="0"/>
                        <a:t>&gt; head)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כתבו פעולה </a:t>
                      </a:r>
                      <a:r>
                        <a:rPr lang="he-IL" dirty="0" err="1"/>
                        <a:t>רקרסיבית</a:t>
                      </a:r>
                      <a:r>
                        <a:rPr lang="he-IL" dirty="0"/>
                        <a:t> המדפיסה את הרשימה מהסוף להתחלה.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431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RecursionLength</a:t>
                      </a:r>
                      <a:r>
                        <a:rPr lang="en-US" dirty="0"/>
                        <a:t>(Node&lt;</a:t>
                      </a:r>
                      <a:r>
                        <a:rPr lang="en-IL" dirty="0"/>
                        <a:t>double</a:t>
                      </a:r>
                      <a:r>
                        <a:rPr lang="en-US" dirty="0"/>
                        <a:t>&gt; head)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כתבו פעולה רקורסיבית הסופרת את מספר האיברים ברשימה.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568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RecursionCount</a:t>
                      </a:r>
                      <a:r>
                        <a:rPr lang="en-US" dirty="0"/>
                        <a:t> (Node&lt;</a:t>
                      </a:r>
                      <a:r>
                        <a:rPr lang="en-IL" dirty="0"/>
                        <a:t>int</a:t>
                      </a:r>
                      <a:r>
                        <a:rPr lang="en-US" dirty="0"/>
                        <a:t>&gt; head, </a:t>
                      </a:r>
                      <a:r>
                        <a:rPr lang="en-IL" dirty="0"/>
                        <a:t>int</a:t>
                      </a:r>
                      <a:r>
                        <a:rPr lang="en-US" dirty="0"/>
                        <a:t> value)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כתוב פעולה רקורסיבית הסופרת את מספר הפעמים שהערך מופיע ברשימה.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779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IL" dirty="0" err="1"/>
                        <a:t>RecursionMax</a:t>
                      </a:r>
                      <a:r>
                        <a:rPr lang="en-IL" dirty="0"/>
                        <a:t> (</a:t>
                      </a:r>
                      <a:r>
                        <a:rPr lang="en-US" dirty="0"/>
                        <a:t>Node&lt;</a:t>
                      </a:r>
                      <a:r>
                        <a:rPr lang="en-IL" dirty="0"/>
                        <a:t>int</a:t>
                      </a:r>
                      <a:r>
                        <a:rPr lang="en-US" dirty="0"/>
                        <a:t>&gt; </a:t>
                      </a:r>
                      <a:r>
                        <a:rPr lang="en-IL" dirty="0" err="1"/>
                        <a:t>lst</a:t>
                      </a:r>
                      <a:r>
                        <a:rPr lang="en-IL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כתבו פעולה רקורסיבית המחזירה את הערך המקסימלי.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113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Recursion</a:t>
                      </a:r>
                      <a:r>
                        <a:rPr lang="en-IL" dirty="0"/>
                        <a:t>Copy</a:t>
                      </a:r>
                      <a:r>
                        <a:rPr lang="en-US" dirty="0"/>
                        <a:t> (Node&lt;</a:t>
                      </a:r>
                      <a:r>
                        <a:rPr lang="en-IL" dirty="0"/>
                        <a:t>string</a:t>
                      </a:r>
                      <a:r>
                        <a:rPr lang="en-US" dirty="0"/>
                        <a:t>&gt; head)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כתוב פעולה </a:t>
                      </a:r>
                      <a:r>
                        <a:rPr lang="he-IL" dirty="0" err="1"/>
                        <a:t>רקרסיבית</a:t>
                      </a:r>
                      <a:r>
                        <a:rPr lang="he-IL" dirty="0"/>
                        <a:t> המחזירה עותק של הרשימה.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6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Recursion</a:t>
                      </a:r>
                      <a:r>
                        <a:rPr lang="en-IL" dirty="0"/>
                        <a:t>Reverse</a:t>
                      </a:r>
                      <a:r>
                        <a:rPr lang="en-US" dirty="0"/>
                        <a:t> (Node&lt;</a:t>
                      </a:r>
                      <a:r>
                        <a:rPr lang="en-IL" dirty="0"/>
                        <a:t>string</a:t>
                      </a:r>
                      <a:r>
                        <a:rPr lang="en-US" dirty="0"/>
                        <a:t>&gt; head</a:t>
                      </a:r>
                      <a:r>
                        <a:rPr lang="en-IL" dirty="0"/>
                        <a:t>, Node&lt;string&gt; </a:t>
                      </a:r>
                      <a:r>
                        <a:rPr lang="en-IL" dirty="0" err="1"/>
                        <a:t>newLst</a:t>
                      </a:r>
                      <a:r>
                        <a:rPr lang="en-US" dirty="0"/>
                        <a:t>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כתוב פעולה </a:t>
                      </a:r>
                      <a:r>
                        <a:rPr lang="he-IL" dirty="0" err="1"/>
                        <a:t>רקרסיבית</a:t>
                      </a:r>
                      <a:r>
                        <a:rPr lang="he-IL" dirty="0"/>
                        <a:t> המחזירה עותק של הרשימה </a:t>
                      </a:r>
                      <a:r>
                        <a:rPr lang="he-IL"/>
                        <a:t>בסדר הפוך.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528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975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20542"/>
                  </a:ext>
                </a:extLst>
              </a:tr>
            </a:tbl>
          </a:graphicData>
        </a:graphic>
      </p:graphicFrame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647057" y="0"/>
            <a:ext cx="1206683" cy="1211905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369089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4656</TotalTime>
  <Words>1908</Words>
  <Application>Microsoft Office PowerPoint</Application>
  <PresentationFormat>מסך רחב</PresentationFormat>
  <Paragraphs>316</Paragraphs>
  <Slides>26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Varela Round</vt:lpstr>
      <vt:lpstr>ערכת נושא Office</vt:lpstr>
      <vt:lpstr>חוליה - שרשרת חוליות  רשימה מקושרת</vt:lpstr>
      <vt:lpstr>הצורך במבנה נתונים דינאמי</vt:lpstr>
      <vt:lpstr>החוליה Node</vt:lpstr>
      <vt:lpstr>חוליה פשוטה</vt:lpstr>
      <vt:lpstr>מהי תמונת הזיכרון של הקוד הבא?</vt:lpstr>
      <vt:lpstr>מהי תמונת הזכרון של הקוד הבא</vt:lpstr>
      <vt:lpstr>מה תדפיס התוכנית הבאה ?</vt:lpstr>
      <vt:lpstr>כיצד נוסיף חוליה 25 למקומה ?</vt:lpstr>
      <vt:lpstr> מהי תמונת הזכרון של הקוד הבא ?</vt:lpstr>
      <vt:lpstr>שאלה – כתוב פעולה שמשרשרת 10 חוליות  עם הערכים 10,20,30 …</vt:lpstr>
      <vt:lpstr>תרגיל – כתוב פעולה המקבלת מצביע לראש השרשרת ומדפיסה את כל הערכים</vt:lpstr>
      <vt:lpstr>תרגיל – כתוב פעולה המקבלת מערך של מספרים שלמים ויצרת ממנו רשימת חוליות</vt:lpstr>
      <vt:lpstr>החוליה הגנרית</vt:lpstr>
      <vt:lpstr>מחלקה גנרית</vt:lpstr>
      <vt:lpstr>החוליה הגנרית Node&lt;T&gt; </vt:lpstr>
      <vt:lpstr>שימוש בחוליה הגנרית</vt:lpstr>
      <vt:lpstr>כתוב את המחלקה Node&lt;T&gt; </vt:lpstr>
      <vt:lpstr>תרגיל – כתוב פעולה המקבלת רשימה גנרית ומדפיסה אותה</vt:lpstr>
      <vt:lpstr>תרגיל 1 – פעולות בסיסיות על רשימה</vt:lpstr>
      <vt:lpstr>תרגיל 2 – פעולות מתקדמות עם רשימות</vt:lpstr>
      <vt:lpstr>המשך תרגיל 2 – פעולות מתקדמות עם רשימות</vt:lpstr>
      <vt:lpstr>תרגילים מבגרויות</vt:lpstr>
      <vt:lpstr>שאלה מבגרות 2010</vt:lpstr>
      <vt:lpstr>שאלה מבגרות 2020</vt:lpstr>
      <vt:lpstr>שאלה ברמת בגרות</vt:lpstr>
      <vt:lpstr>רקורסיה ברשימות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רקורסיה</dc:title>
  <dc:creator>גלעד מרקמן</dc:creator>
  <cp:lastModifiedBy>גלעד מרקמן</cp:lastModifiedBy>
  <cp:revision>61</cp:revision>
  <dcterms:created xsi:type="dcterms:W3CDTF">2022-08-12T16:17:33Z</dcterms:created>
  <dcterms:modified xsi:type="dcterms:W3CDTF">2024-03-25T20:14:23Z</dcterms:modified>
</cp:coreProperties>
</file>